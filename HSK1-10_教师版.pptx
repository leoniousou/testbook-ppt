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f01d6c35224d23" /><Relationship Type="http://schemas.openxmlformats.org/officeDocument/2006/relationships/extended-properties" Target="/docProps/app.xml" Id="R863422ff266e411b" /><Relationship Type="http://schemas.openxmlformats.org/officeDocument/2006/relationships/officeDocument" Target="/ppt/presentation.xml" Id="R77336e29f5c049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333aa000cc4101"/>
    <p:sldMasterId xmlns:r="http://schemas.openxmlformats.org/officeDocument/2006/relationships" id="2147483661" r:id="R7e19ca883c3549dc"/>
    <p:sldMasterId xmlns:r="http://schemas.openxmlformats.org/officeDocument/2006/relationships" id="2147483673" r:id="Rbad2dc5b6bb1454d"/>
  </p:sldMasterIdLst>
  <p:notesMasterIdLst>
    <p:notesMasterId xmlns:r="http://schemas.openxmlformats.org/officeDocument/2006/relationships" r:id="Ra287264730074c6d"/>
  </p:notesMasterIdLst>
  <p:sldIdLst>
    <p:sldId xmlns:r="http://schemas.openxmlformats.org/officeDocument/2006/relationships" id="256" r:id="R47e75a645e604c9c"/>
    <p:sldId xmlns:r="http://schemas.openxmlformats.org/officeDocument/2006/relationships" id="257" r:id="R03e4800be0224ec2"/>
    <p:sldId xmlns:r="http://schemas.openxmlformats.org/officeDocument/2006/relationships" id="258" r:id="Rcfcc1b6f023242d3"/>
    <p:sldId xmlns:r="http://schemas.openxmlformats.org/officeDocument/2006/relationships" id="259" r:id="Rb045573ae7d84895"/>
    <p:sldId xmlns:r="http://schemas.openxmlformats.org/officeDocument/2006/relationships" id="260" r:id="R097b3037804f4eb1"/>
    <p:sldId xmlns:r="http://schemas.openxmlformats.org/officeDocument/2006/relationships" id="261" r:id="R5274849acb214fe1"/>
    <p:sldId xmlns:r="http://schemas.openxmlformats.org/officeDocument/2006/relationships" id="262" r:id="R0adfe14c9e434a0e"/>
    <p:sldId xmlns:r="http://schemas.openxmlformats.org/officeDocument/2006/relationships" id="263" r:id="R4533574daade48ae"/>
    <p:sldId xmlns:r="http://schemas.openxmlformats.org/officeDocument/2006/relationships" id="264" r:id="R8008a96301794066"/>
    <p:sldId xmlns:r="http://schemas.openxmlformats.org/officeDocument/2006/relationships" id="265" r:id="Ra0daeabdb30d4248"/>
    <p:sldId xmlns:r="http://schemas.openxmlformats.org/officeDocument/2006/relationships" id="266" r:id="R2973ed87fed64b35"/>
    <p:sldId xmlns:r="http://schemas.openxmlformats.org/officeDocument/2006/relationships" id="267" r:id="R053fe40414ef41d2"/>
    <p:sldId xmlns:r="http://schemas.openxmlformats.org/officeDocument/2006/relationships" id="268" r:id="R7cb296bddedf4b5f"/>
    <p:sldId xmlns:r="http://schemas.openxmlformats.org/officeDocument/2006/relationships" id="269" r:id="R7cc39c2c80764de1"/>
    <p:sldId xmlns:r="http://schemas.openxmlformats.org/officeDocument/2006/relationships" id="270" r:id="R57ca77df2b844673"/>
    <p:sldId xmlns:r="http://schemas.openxmlformats.org/officeDocument/2006/relationships" id="271" r:id="R4b7790e4f5334786"/>
    <p:sldId xmlns:r="http://schemas.openxmlformats.org/officeDocument/2006/relationships" id="272" r:id="R6f10c14a859d4468"/>
    <p:sldId xmlns:r="http://schemas.openxmlformats.org/officeDocument/2006/relationships" id="273" r:id="R6fff54a2284b4af2"/>
    <p:sldId xmlns:r="http://schemas.openxmlformats.org/officeDocument/2006/relationships" id="274" r:id="R68ab46e2f58046f8"/>
    <p:sldId xmlns:r="http://schemas.openxmlformats.org/officeDocument/2006/relationships" id="275" r:id="Rdcd151d00c2e4bba"/>
    <p:sldId xmlns:r="http://schemas.openxmlformats.org/officeDocument/2006/relationships" id="276" r:id="R2de2af618f654a0f"/>
    <p:sldId xmlns:r="http://schemas.openxmlformats.org/officeDocument/2006/relationships" id="277" r:id="R8e2297981801485a"/>
    <p:sldId xmlns:r="http://schemas.openxmlformats.org/officeDocument/2006/relationships" id="278" r:id="R5d183a0371f247e6"/>
    <p:sldId xmlns:r="http://schemas.openxmlformats.org/officeDocument/2006/relationships" id="279" r:id="Rdbd49d628fca45aa"/>
    <p:sldId xmlns:r="http://schemas.openxmlformats.org/officeDocument/2006/relationships" id="280" r:id="R6964b6b5f71147f6"/>
    <p:sldId xmlns:r="http://schemas.openxmlformats.org/officeDocument/2006/relationships" id="281" r:id="Rf2fef052fa344435"/>
    <p:sldId xmlns:r="http://schemas.openxmlformats.org/officeDocument/2006/relationships" id="282" r:id="R8bca4f6e0db94269"/>
    <p:sldId xmlns:r="http://schemas.openxmlformats.org/officeDocument/2006/relationships" id="283" r:id="R58ee02efc9ae4611"/>
    <p:sldId xmlns:r="http://schemas.openxmlformats.org/officeDocument/2006/relationships" id="284" r:id="R95c16bc1c1c0474e"/>
    <p:sldId xmlns:r="http://schemas.openxmlformats.org/officeDocument/2006/relationships" id="285" r:id="R5c1afa9d49d3452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5EC00C2-0887-405E-A094-2DD42646EF0A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2H>
    <a:band1V>
      <a:tcStyle>
        <a:tcBdr/>
        <a:fill>
          <a:solidFill>
            <a:srgbClr val="9CBDA8">
              <a:lumMod val="40000"/>
              <a:lumOff val="60000"/>
              <a:alpha val="25000"/>
            </a:srgb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9CBDA8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rgbClr val="9CBDA8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rgbClr val="9CBDA8"/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insideV>
        </a:tcBdr>
        <a:fill>
          <a:solidFill>
            <a:srgbClr val="9CBDA8"/>
          </a:solidFill>
        </a:fill>
      </a:tcStyle>
    </a:firstRow>
    <a:neCell>
      <a:tcStyle>
        <a:tcBdr>
          <a:left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left>
          <a:right>
            <a:ln w="9525" cmpd="sng">
              <a:solidFill>
                <a:srgbClr val="9CBDA8"/>
              </a:solidFill>
              <a:prstDash val="solid"/>
            </a:ln>
          </a:right>
          <a:top>
            <a:ln w="9525" cmpd="sng">
              <a:solidFill>
                <a:srgbClr val="9CBDA8"/>
              </a:solidFill>
              <a:prstDash val="solid"/>
            </a:ln>
          </a:top>
          <a:bottom>
            <a:ln w="9525" cmpd="sng">
              <a:solidFill>
                <a:srgbClr val="9CBDA8">
                  <a:lumMod val="40000"/>
                  <a:lumOff val="60000"/>
                </a:srgb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ccc26e200d4a31" /><Relationship Type="http://schemas.openxmlformats.org/officeDocument/2006/relationships/slideMaster" Target="/ppt/slideMasters/slideMaster1.xml" Id="R6f333aa000cc4101" /><Relationship Type="http://schemas.openxmlformats.org/officeDocument/2006/relationships/slideMaster" Target="/ppt/slideMasters/slideMaster2.xml" Id="R7e19ca883c3549dc" /><Relationship Type="http://schemas.openxmlformats.org/officeDocument/2006/relationships/slideMaster" Target="/ppt/slideMasters/slideMaster3.xml" Id="Rbad2dc5b6bb1454d" /><Relationship Type="http://schemas.openxmlformats.org/officeDocument/2006/relationships/notesMaster" Target="/ppt/notesMasters/notesMaster1.xml" Id="Ra287264730074c6d" /><Relationship Type="http://schemas.openxmlformats.org/officeDocument/2006/relationships/presProps" Target="/ppt/presProps.xml" Id="Rde8c0090eb37498e" /><Relationship Type="http://schemas.openxmlformats.org/officeDocument/2006/relationships/viewProps" Target="/ppt/viewProps.xml" Id="Rb147df1c43c14e86" /><Relationship Type="http://schemas.openxmlformats.org/officeDocument/2006/relationships/tableStyles" Target="/ppt/tableStyles.xml" Id="Raa57c8c98d12435d" /><Relationship Type="http://schemas.openxmlformats.org/officeDocument/2006/relationships/slide" Target="/ppt/slides/slide1.xml" Id="R47e75a645e604c9c" /><Relationship Type="http://schemas.openxmlformats.org/officeDocument/2006/relationships/slide" Target="/ppt/slides/slide2.xml" Id="R03e4800be0224ec2" /><Relationship Type="http://schemas.openxmlformats.org/officeDocument/2006/relationships/slide" Target="/ppt/slides/slide3.xml" Id="Rcfcc1b6f023242d3" /><Relationship Type="http://schemas.openxmlformats.org/officeDocument/2006/relationships/slide" Target="/ppt/slides/slide4.xml" Id="Rb045573ae7d84895" /><Relationship Type="http://schemas.openxmlformats.org/officeDocument/2006/relationships/slide" Target="/ppt/slides/slide5.xml" Id="R097b3037804f4eb1" /><Relationship Type="http://schemas.openxmlformats.org/officeDocument/2006/relationships/slide" Target="/ppt/slides/slide6.xml" Id="R5274849acb214fe1" /><Relationship Type="http://schemas.openxmlformats.org/officeDocument/2006/relationships/slide" Target="/ppt/slides/slide7.xml" Id="R0adfe14c9e434a0e" /><Relationship Type="http://schemas.openxmlformats.org/officeDocument/2006/relationships/slide" Target="/ppt/slides/slide8.xml" Id="R4533574daade48ae" /><Relationship Type="http://schemas.openxmlformats.org/officeDocument/2006/relationships/slide" Target="/ppt/slides/slide9.xml" Id="R8008a96301794066" /><Relationship Type="http://schemas.openxmlformats.org/officeDocument/2006/relationships/slide" Target="/ppt/slides/slide10.xml" Id="Ra0daeabdb30d4248" /><Relationship Type="http://schemas.openxmlformats.org/officeDocument/2006/relationships/slide" Target="/ppt/slides/slide11.xml" Id="R2973ed87fed64b35" /><Relationship Type="http://schemas.openxmlformats.org/officeDocument/2006/relationships/slide" Target="/ppt/slides/slide12.xml" Id="R053fe40414ef41d2" /><Relationship Type="http://schemas.openxmlformats.org/officeDocument/2006/relationships/slide" Target="/ppt/slides/slide13.xml" Id="R7cb296bddedf4b5f" /><Relationship Type="http://schemas.openxmlformats.org/officeDocument/2006/relationships/slide" Target="/ppt/slides/slide14.xml" Id="R7cc39c2c80764de1" /><Relationship Type="http://schemas.openxmlformats.org/officeDocument/2006/relationships/slide" Target="/ppt/slides/slide15.xml" Id="R57ca77df2b844673" /><Relationship Type="http://schemas.openxmlformats.org/officeDocument/2006/relationships/slide" Target="/ppt/slides/slide16.xml" Id="R4b7790e4f5334786" /><Relationship Type="http://schemas.openxmlformats.org/officeDocument/2006/relationships/slide" Target="/ppt/slides/slide17.xml" Id="R6f10c14a859d4468" /><Relationship Type="http://schemas.openxmlformats.org/officeDocument/2006/relationships/slide" Target="/ppt/slides/slide18.xml" Id="R6fff54a2284b4af2" /><Relationship Type="http://schemas.openxmlformats.org/officeDocument/2006/relationships/slide" Target="/ppt/slides/slide19.xml" Id="R68ab46e2f58046f8" /><Relationship Type="http://schemas.openxmlformats.org/officeDocument/2006/relationships/slide" Target="/ppt/slides/slide20.xml" Id="Rdcd151d00c2e4bba" /><Relationship Type="http://schemas.openxmlformats.org/officeDocument/2006/relationships/slide" Target="/ppt/slides/slide21.xml" Id="R2de2af618f654a0f" /><Relationship Type="http://schemas.openxmlformats.org/officeDocument/2006/relationships/slide" Target="/ppt/slides/slide22.xml" Id="R8e2297981801485a" /><Relationship Type="http://schemas.openxmlformats.org/officeDocument/2006/relationships/slide" Target="/ppt/slides/slide23.xml" Id="R5d183a0371f247e6" /><Relationship Type="http://schemas.openxmlformats.org/officeDocument/2006/relationships/slide" Target="/ppt/slides/slide24.xml" Id="Rdbd49d628fca45aa" /><Relationship Type="http://schemas.openxmlformats.org/officeDocument/2006/relationships/slide" Target="/ppt/slides/slide25.xml" Id="R6964b6b5f71147f6" /><Relationship Type="http://schemas.openxmlformats.org/officeDocument/2006/relationships/slide" Target="/ppt/slides/slide26.xml" Id="Rf2fef052fa344435" /><Relationship Type="http://schemas.openxmlformats.org/officeDocument/2006/relationships/slide" Target="/ppt/slides/slide27.xml" Id="R8bca4f6e0db94269" /><Relationship Type="http://schemas.openxmlformats.org/officeDocument/2006/relationships/slide" Target="/ppt/slides/slide28.xml" Id="R58ee02efc9ae4611" /><Relationship Type="http://schemas.openxmlformats.org/officeDocument/2006/relationships/slide" Target="/ppt/slides/slide29.xml" Id="R95c16bc1c1c0474e" /><Relationship Type="http://schemas.openxmlformats.org/officeDocument/2006/relationships/slide" Target="/ppt/slides/slide30.xml" Id="R5c1afa9d49d345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ddb95f1e4b643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75ce9f722847c2" /><Relationship Type="http://schemas.openxmlformats.org/officeDocument/2006/relationships/notesMaster" Target="/ppt/notesMasters/notesMaster1.xml" Id="Rb11028af91fb40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a1c318146e49fd" /><Relationship Type="http://schemas.openxmlformats.org/officeDocument/2006/relationships/notesMaster" Target="/ppt/notesMasters/notesMaster1.xml" Id="Rd295fd08451842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6ff44b894f49a2" /><Relationship Type="http://schemas.openxmlformats.org/officeDocument/2006/relationships/notesMaster" Target="/ppt/notesMasters/notesMaster1.xml" Id="R374b1be211c248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e22d934c67468c" /><Relationship Type="http://schemas.openxmlformats.org/officeDocument/2006/relationships/notesMaster" Target="/ppt/notesMasters/notesMaster1.xml" Id="Rb9054932e85747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707f16d0be4aea" /><Relationship Type="http://schemas.openxmlformats.org/officeDocument/2006/relationships/notesMaster" Target="/ppt/notesMasters/notesMaster1.xml" Id="Re22965f4abb14ab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5b7585688b4240" /><Relationship Type="http://schemas.openxmlformats.org/officeDocument/2006/relationships/notesMaster" Target="/ppt/notesMasters/notesMaster1.xml" Id="R12296b34e71f4c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eb31d4c1fc4179" /><Relationship Type="http://schemas.openxmlformats.org/officeDocument/2006/relationships/notesMaster" Target="/ppt/notesMasters/notesMaster1.xml" Id="R736a858bb37741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5225dc953c4103" /><Relationship Type="http://schemas.openxmlformats.org/officeDocument/2006/relationships/notesMaster" Target="/ppt/notesMasters/notesMaster1.xml" Id="R90e825087b3048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0a3f6fca8945a5" /><Relationship Type="http://schemas.openxmlformats.org/officeDocument/2006/relationships/notesMaster" Target="/ppt/notesMasters/notesMaster1.xml" Id="R45a35839d1a34e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3a4d5bf7984cc9" /><Relationship Type="http://schemas.openxmlformats.org/officeDocument/2006/relationships/notesMaster" Target="/ppt/notesMasters/notesMaster1.xml" Id="Reac4d5c31e0346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6e190bdf8645fa" /><Relationship Type="http://schemas.openxmlformats.org/officeDocument/2006/relationships/notesMaster" Target="/ppt/notesMasters/notesMaster1.xml" Id="R76c52bb93fa440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c561b2db1e4c26" /><Relationship Type="http://schemas.openxmlformats.org/officeDocument/2006/relationships/notesMaster" Target="/ppt/notesMasters/notesMaster1.xml" Id="R4109e311a47f44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7b068ef6e44973" /><Relationship Type="http://schemas.openxmlformats.org/officeDocument/2006/relationships/notesMaster" Target="/ppt/notesMasters/notesMaster1.xml" Id="R8e79b01ded4e4e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82f051b9624c5a" /><Relationship Type="http://schemas.openxmlformats.org/officeDocument/2006/relationships/notesMaster" Target="/ppt/notesMasters/notesMaster1.xml" Id="Rffba437868134b0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59394f4f624a12" /><Relationship Type="http://schemas.openxmlformats.org/officeDocument/2006/relationships/notesMaster" Target="/ppt/notesMasters/notesMaster1.xml" Id="R2d60264add274c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cad299ad2f427e" /><Relationship Type="http://schemas.openxmlformats.org/officeDocument/2006/relationships/notesMaster" Target="/ppt/notesMasters/notesMaster1.xml" Id="Rcf9505e5d0a844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f683b7c5e054bab" /><Relationship Type="http://schemas.openxmlformats.org/officeDocument/2006/relationships/notesMaster" Target="/ppt/notesMasters/notesMaster1.xml" Id="Rdbc50371d22b4a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cdbe04eafd452b" /><Relationship Type="http://schemas.openxmlformats.org/officeDocument/2006/relationships/notesMaster" Target="/ppt/notesMasters/notesMaster1.xml" Id="Re70b3798c3f3438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e18bc4f8ca444d6" /><Relationship Type="http://schemas.openxmlformats.org/officeDocument/2006/relationships/notesMaster" Target="/ppt/notesMasters/notesMaster1.xml" Id="R3957f1c7a3e444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e618819cfb41e6" /><Relationship Type="http://schemas.openxmlformats.org/officeDocument/2006/relationships/notesMaster" Target="/ppt/notesMasters/notesMaster1.xml" Id="R4202fb37cf8940d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0ad5274d324da3" /><Relationship Type="http://schemas.openxmlformats.org/officeDocument/2006/relationships/notesMaster" Target="/ppt/notesMasters/notesMaster1.xml" Id="Rfaa1bd1a02b34b3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bf21da05124ca3" /><Relationship Type="http://schemas.openxmlformats.org/officeDocument/2006/relationships/notesMaster" Target="/ppt/notesMasters/notesMaster1.xml" Id="R179447af2f074f6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213094e6444f21" /><Relationship Type="http://schemas.openxmlformats.org/officeDocument/2006/relationships/notesMaster" Target="/ppt/notesMasters/notesMaster1.xml" Id="R01f1f77bc30f4b0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643d09a68ee4be8" /><Relationship Type="http://schemas.openxmlformats.org/officeDocument/2006/relationships/notesMaster" Target="/ppt/notesMasters/notesMaster1.xml" Id="R29da63261ed7449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5e7c2626d324b0f" /><Relationship Type="http://schemas.openxmlformats.org/officeDocument/2006/relationships/notesMaster" Target="/ppt/notesMasters/notesMaster1.xml" Id="R23fa0ca28b53408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fa51f98ea5e4f37" /><Relationship Type="http://schemas.openxmlformats.org/officeDocument/2006/relationships/notesMaster" Target="/ppt/notesMasters/notesMaster1.xml" Id="R33740bb3cd90494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86ff6a55b2a472d" /><Relationship Type="http://schemas.openxmlformats.org/officeDocument/2006/relationships/notesMaster" Target="/ppt/notesMasters/notesMaster1.xml" Id="R133aff2c5c6c444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38f5a8a20d34707" /><Relationship Type="http://schemas.openxmlformats.org/officeDocument/2006/relationships/notesMaster" Target="/ppt/notesMasters/notesMaster1.xml" Id="Rf079f5b4fcf740b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ec81863cb0140aa" /><Relationship Type="http://schemas.openxmlformats.org/officeDocument/2006/relationships/notesMaster" Target="/ppt/notesMasters/notesMaster1.xml" Id="R3ab16d94dd8b4b8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643954677844ff6" /><Relationship Type="http://schemas.openxmlformats.org/officeDocument/2006/relationships/notesMaster" Target="/ppt/notesMasters/notesMaster1.xml" Id="Rde404f06372b4a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【课时定位】第1课时｜全课导入</a:t>
            </a:r>
          </a:p>
          <a:p xmlns:a="http://schemas.openxmlformats.org/drawingml/2006/main">
            <a:r>
              <a:t>【本页目标】学生能用自己的话说出本课核心学习任务。</a:t>
            </a:r>
          </a:p>
          <a:p xmlns:a="http://schemas.openxmlformats.org/drawingml/2006/main">
            <a:r>
              <a:t>【建议用时】3分钟；时间不足时保留学生产出与检查。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【教学顺序】读课题→读目标→说已知词→进入热身。</a:t>
            </a:r>
          </a:p>
          <a:p xmlns:a="http://schemas.openxmlformats.org/drawingml/2006/main">
            <a:r>
              <a:t>【教师动作/话术】指课题逐项追问；不会时只指目标，不提前讲规则。</a:t>
            </a:r>
          </a:p>
          <a:p xmlns:a="http://schemas.openxmlformats.org/drawingml/2006/main">
            <a:r>
              <a:t>【学生任务】读课题，说说你认识哪些词。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【常见问题】只读课题不说目标→指三项目标关键词→学生复述一项目标。</a:t>
            </a:r>
          </a:p>
          <a:p xmlns:a="http://schemas.openxmlformats.org/drawingml/2006/main">
            <a:r>
              <a:t>【答案/检查标准】能说出至少三项核心任务，并指出还不熟的一项。</a:t>
            </a:r>
          </a:p>
          <a:p xmlns:a="http://schemas.openxmlformats.org/drawingml/2006/main">
            <a:r>
              <a:t>【教材来源】教材印刷P.70（PDF第84页）；教材目标：能听懂并简单谈论商品价格；掌握形容词谓语句的用法；掌握疑问代词“怎么样”的用法；认识人民币。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【课时定位】第1课时｜看图热身</a:t>
            </a:r>
            <a:endParaRPr/>
          </a:p>
          <a:p xmlns:a="http://schemas.openxmlformats.org/drawingml/2006/main">
            <a:r>
              <a:t>【本页目标】学生能把6个词与图片对应。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【教学顺序】独立匹配→同桌核对→全班读词。</a:t>
            </a:r>
            <a:endParaRPr/>
          </a:p>
          <a:p xmlns:a="http://schemas.openxmlformats.org/drawingml/2006/main">
            <a:r>
              <a:t>【教师动作/话术】要求只写字母；核对时用“1是A”逐项报。</a:t>
            </a:r>
            <a:endParaRPr/>
          </a:p>
          <a:p xmlns:a="http://schemas.openxmlformats.org/drawingml/2006/main">
            <a:r>
              <a:t>【学生任务】看图选词，把字母写在图片旁。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【常见问题】字母与图片错配→先说图片内容→回到词库找字母→学生重新配对。</a:t>
            </a:r>
            <a:endParaRPr/>
          </a:p>
          <a:p xmlns:a="http://schemas.openxmlformats.org/drawingml/2006/main">
            <a:r>
              <a:t>【答案/检查标准】1-C 苹果；2-A 衣服；3-E 杯子；4-D 穿；5-F 商店；6-B 便宜</a:t>
            </a:r>
            <a:endParaRPr/>
          </a:p>
          <a:p xmlns:a="http://schemas.openxmlformats.org/drawingml/2006/main">
            <a:r>
              <a:t>【教材来源】教材印刷P.70（PDF第84页）。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【答案/检查标准】杯子 bēizi；售货员 shòuhuòyuán；这边 zhèbian；钱 qián；检查读音，并用其中一词说完整短句。</a:t>
            </a:r>
            <a:endParaRPr/>
          </a:p>
          <a:p xmlns:a="http://schemas.openxmlformats.org/drawingml/2006/main">
            <a:r>
              <a:t>【教材来源】教材印刷P.71（PDF第85页）。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【课时定位】第1课时｜课文1听力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【建议用时】5分钟；听两遍后立即同伴核对。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【教师动作/话术】教材音频10-1未嵌入。教师朗读两遍：第一遍自然语速完整朗读，全文后停5秒；第二遍逐句朗读，每句后停2秒。朗读稿：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场景：王一雪在小商店买杯子。</a:t>
            </a:r>
          </a:p>
          <a:p xmlns:a="http://schemas.openxmlformats.org/drawingml/2006/main">
            <a:r>
              <a:t>王一雪：请问，有杯子吗？</a:t>
            </a:r>
          </a:p>
          <a:p xmlns:a="http://schemas.openxmlformats.org/drawingml/2006/main">
            <a:r>
              <a:t>售货员：有，杯子在这边。</a:t>
            </a:r>
          </a:p>
          <a:p xmlns:a="http://schemas.openxmlformats.org/drawingml/2006/main">
            <a:r>
              <a:t>王一雪：多少钱一个？</a:t>
            </a:r>
          </a:p>
          <a:p xmlns:a="http://schemas.openxmlformats.org/drawingml/2006/main">
            <a:r>
              <a:t>售货员：这些五块钱一个，那些十块钱一个。</a:t>
            </a:r>
          </a:p>
          <a:p xmlns:a="http://schemas.openxmlformats.org/drawingml/2006/main">
            <a:r>
              <a:t>王一雪：我买这个吧。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杯子在这边。”；证据：“售货员：有，杯子在这边。”；2.完整答案是“这些杯子五块钱一个。”；证据：“售货员：这些五块钱一个，那些十块钱一个。”；3.完整答案是“王一雪买这个杯子。”；证据：“售货员说明杯子在这边、五块钱一个；王一雪最后说：我买这个吧。”；可接受同义完整句，关键信息须一致。</a:t>
            </a:r>
          </a:p>
          <a:p xmlns:a="http://schemas.openxmlformats.org/drawingml/2006/main">
            <a:r>
              <a:t>【教材来源】教材印刷P.71（PDF第85页），课文1；3题均为教师设计的课文证据题；实际音频状态：未嵌入，使用教师朗读。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【课时定位】第1课时｜课文一跟读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【本页目标】学生能按人物和顺序朗读课文一。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【教学顺序】默读→跟读→分角色→替换一处信息。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【教师动作/话术】逐轮指人物，先齐读再两人读。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【答案/检查标准】按5轮原顺序分角色朗读；人物、轮次、汉字和拼音准确，不漏轮、不串角色。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【教材来源】教材印刷P.71（PDF第85页）。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【答案/检查标准】这些 zhèxiē；块 kuài；那些 nàxiē；检查读音，并用其中一词说完整短句。</a:t>
            </a:r>
            <a:endParaRPr/>
          </a:p>
          <a:p xmlns:a="http://schemas.openxmlformats.org/drawingml/2006/main">
            <a:r>
              <a:t>【教材来源】教材印刷P.71（PDF第85页）。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</a:t>
            </a:r>
            <a:endParaRPr/>
          </a:p>
          <a:p xmlns:a="http://schemas.openxmlformats.org/drawingml/2006/main">
            <a:r>
              <a:t>【本页目标】学生能理解并使用钱数的表达。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【教学顺序】读例句→圈形式→归纳→替换。</a:t>
            </a:r>
            <a:endParaRPr/>
          </a:p>
          <a:p xmlns:a="http://schemas.openxmlformats.org/drawingml/2006/main">
            <a:r>
              <a:t>【教师动作/话术】先让学生找相同部分，再用一句话确认规则。</a:t>
            </a:r>
            <a:endParaRPr/>
          </a:p>
          <a:p xmlns:a="http://schemas.openxmlformats.org/drawingml/2006/main">
            <a:r>
              <a:t>【学生任务】观察三组句子，说出共同规则。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【常见问题】只背形式不会替换→圈固定结构、给一个新词→学生完成新句。</a:t>
            </a:r>
            <a:endParaRPr/>
          </a:p>
          <a:p xmlns:a="http://schemas.openxmlformats.org/drawingml/2006/main">
            <a:r>
              <a:t>【答案/检查标准】人民币单位从大到小是元、角、分；口语常说块、毛、分。</a:t>
            </a:r>
            <a:endParaRPr/>
          </a:p>
          <a:p xmlns:a="http://schemas.openxmlformats.org/drawingml/2006/main">
            <a:r>
              <a:t>【教材来源】教材印刷P.72（PDF第86页）。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【课时定位】第1课时｜语言点一控制练习</a:t>
            </a:r>
            <a:endParaRPr/>
          </a:p>
          <a:p xmlns:a="http://schemas.openxmlformats.org/drawingml/2006/main">
            <a:r>
              <a:t>【本页目标】学生能按句架完成三组问答。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【教学顺序】独立准备→同桌问答→抽查。</a:t>
            </a:r>
            <a:endParaRPr/>
          </a:p>
          <a:p xmlns:a="http://schemas.openxmlformats.org/drawingml/2006/main">
            <a:r>
              <a:t>【教师动作/话术】只给词头，不直接报答案。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【答案/检查标准】1.这个杯子五块钱。；2.6.02元读作六块零两分。；3.202.2元读作二百零二块两毛。</a:t>
            </a:r>
            <a:endParaRPr/>
          </a:p>
          <a:p xmlns:a="http://schemas.openxmlformats.org/drawingml/2006/main">
            <a:r>
              <a:t>【教材来源】教材印刷P.72（PDF第86页）；教师设计补充；依据本课课文、语言点与教材练习。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【课时定位】第1课时｜课文一真实任务</a:t>
            </a:r>
            <a:endParaRPr/>
          </a:p>
          <a:p xmlns:a="http://schemas.openxmlformats.org/drawingml/2006/main">
            <a:r>
              <a:t>【本页目标】学生能用课文一功能完成信息交换。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【教师动作/话术】先示范一轮，再要求离开课文看同伴说。</a:t>
            </a:r>
            <a:endParaRPr/>
          </a:p>
          <a:p xmlns:a="http://schemas.openxmlformats.org/drawingml/2006/main">
            <a:r>
              <a:t>【学生任务】两人交换信息，记录一条真实结果。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【常见问题】提问与回答不对应→回指A问关键词→B重新回答并核对记录。</a:t>
            </a:r>
            <a:endParaRPr/>
          </a:p>
          <a:p xmlns:a="http://schemas.openxmlformats.org/drawingml/2006/main">
            <a:r>
              <a:t>【答案/检查标准】提问可接受：请问，________多少钱？；回答可接受：________块／元。；记录要求：记录商品和价格。</a:t>
            </a:r>
            <a:endParaRPr/>
          </a:p>
          <a:p xmlns:a="http://schemas.openxmlformats.org/drawingml/2006/main">
            <a:r>
              <a:t>【教材来源】教材印刷P.71（PDF第85页）；教师设计补充；依据本课课文、语言点与教材练习。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【课时定位】第1课时｜第一课时出口</a:t>
            </a:r>
            <a:endParaRPr/>
          </a:p>
          <a:p xmlns:a="http://schemas.openxmlformats.org/drawingml/2006/main">
            <a:r>
              <a:t>【本页目标】检查课文一词语、听读和语言点。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【教学顺序】独立写→同桌读→教师抽查。</a:t>
            </a:r>
            <a:endParaRPr/>
          </a:p>
          <a:p xmlns:a="http://schemas.openxmlformats.org/drawingml/2006/main">
            <a:r>
              <a:t>【教师动作/话术】按三题快速抽查；错题要求当场重说。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【答案/检查标准】1.杯子在这边。；2.这些杯子五块钱一个。；3.王一雪买这个杯子。；开放题同义且含目标结构即可。</a:t>
            </a:r>
            <a:endParaRPr/>
          </a:p>
          <a:p xmlns:a="http://schemas.openxmlformats.org/drawingml/2006/main">
            <a:r>
              <a:t>【教材来源】教材印刷P.71（PDF第85页）；教师设计补充；依据本课课文、语言点与教材练习。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【课时定位】第2课时｜第二课时检索</a:t>
            </a:r>
            <a:endParaRPr/>
          </a:p>
          <a:p xmlns:a="http://schemas.openxmlformats.org/drawingml/2006/main">
            <a:r>
              <a:t>【本页目标】学生能无提示复现课文一重点。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【教学顺序】独立回忆→同桌互检→口头复现。</a:t>
            </a:r>
            <a:endParaRPr/>
          </a:p>
          <a:p xmlns:a="http://schemas.openxmlformats.org/drawingml/2006/main">
            <a:r>
              <a:t>【教师动作/话术】先等待5秒，不立即给词。</a:t>
            </a:r>
            <a:endParaRPr/>
          </a:p>
          <a:p xmlns:a="http://schemas.openxmlformats.org/drawingml/2006/main">
            <a:r>
              <a:t>【学生任务】合上课本，回答三个复习问题。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【答案/检查标准】能说出课文一场景、一个句型和一条关键信息。</a:t>
            </a:r>
            <a:endParaRPr/>
          </a:p>
          <a:p xmlns:a="http://schemas.openxmlformats.org/drawingml/2006/main">
            <a:r>
              <a:t>【教材来源】教材印刷P.73（PDF第87页）；教师设计补充；依据本课课文、语言点与教材练习。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【答案/检查标准】这儿 zhèr；水果 shuǐguǒ；少 shǎo；检查读音，并用其中一词说完整短句。</a:t>
            </a:r>
            <a:endParaRPr/>
          </a:p>
          <a:p xmlns:a="http://schemas.openxmlformats.org/drawingml/2006/main">
            <a:r>
              <a:t>【教材来源】教材印刷P.73（PDF第87页）。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【课时定位】第2课时｜课文2听力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【教师动作/话术】教材音频10-3未嵌入。教师朗读两遍：第一遍自然语速完整朗读，全文后停5秒；第二遍逐句朗读，每句后停2秒。朗读稿：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场景：王一雪在市场买水果。</a:t>
            </a:r>
          </a:p>
          <a:p xmlns:a="http://schemas.openxmlformats.org/drawingml/2006/main">
            <a:r>
              <a:t>王一雪：这儿的水果真不少！</a:t>
            </a:r>
          </a:p>
          <a:p xmlns:a="http://schemas.openxmlformats.org/drawingml/2006/main">
            <a:r>
              <a:t>售货员：您想买什么？</a:t>
            </a:r>
          </a:p>
          <a:p xmlns:a="http://schemas.openxmlformats.org/drawingml/2006/main">
            <a:r>
              <a:t>王一雪：我想买两斤苹果。</a:t>
            </a:r>
          </a:p>
          <a:p xmlns:a="http://schemas.openxmlformats.org/drawingml/2006/main">
            <a:r>
              <a:t>售货员：苹果三块五一斤。这些七块二，七块钱吧。</a:t>
            </a:r>
          </a:p>
          <a:p xmlns:a="http://schemas.openxmlformats.org/drawingml/2006/main">
            <a:r>
              <a:t>王一雪：好的，这儿的苹果真便宜！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这儿的水果真不少。”；证据：“王一雪：这儿的水果真不少！”；2.完整答案是“苹果三块五一斤。”；证据：“售货员：苹果三块五一斤。这些七块二，七块钱吧。”；3.完整答案是“两斤苹果原价七块二，售货员收七块。”；教材要点：七块；原价七块二，售货员收七块；证据：“王一雪：我想买两斤苹果。；售货员：苹果三块五一斤。这些七块二，七块钱吧。”；可接受同义完整句，关键信息须一致。</a:t>
            </a:r>
          </a:p>
          <a:p xmlns:a="http://schemas.openxmlformats.org/drawingml/2006/main">
            <a:r>
              <a:t>【教材来源】教材印刷P.72（PDF第86页）、教材印刷P.73（PDF第87页），课文2；其中2题为教材选择题，1题为教师设计的课文证据题；实际音频状态：未嵌入，使用教师朗读。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【课时定位】第2课时｜课文二跟读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【本页目标】学生能按人物和顺序朗读课文二。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【教学顺序】默读→跟读→分角色→替换。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【教师动作/话术】逐轮指人物；长句先分段读，再连起来读。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【学生任务】核对人物和顺序，再交换角色朗读。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【答案/检查标准】按5轮原顺序分角色朗读；人物、轮次、汉字和拼音准确，不漏轮、不串角色。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【教材来源】教材印刷P.73（PDF第87页）。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【课时定位】第2课时｜课文二词语复现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【答案/检查标准】斤 jīn；苹果 píngguǒ；便宜 piányi；检查读音，并用其中一词说完整短句。</a:t>
            </a:r>
            <a:endParaRPr/>
          </a:p>
          <a:p xmlns:a="http://schemas.openxmlformats.org/drawingml/2006/main">
            <a:r>
              <a:t>【教材来源】教材印刷P.73（PDF第87页）。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</a:t>
            </a:r>
            <a:endParaRPr/>
          </a:p>
          <a:p xmlns:a="http://schemas.openxmlformats.org/drawingml/2006/main">
            <a:r>
              <a:t>【本页目标】学生能使用形容词谓语句。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【教师动作/话术】用手势标出固定位置，避免长篇术语解释。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【答案/检查标准】形容词可以直接作谓语，前面可加程度副词或否定副词。</a:t>
            </a:r>
            <a:endParaRPr/>
          </a:p>
          <a:p xmlns:a="http://schemas.openxmlformats.org/drawingml/2006/main">
            <a:r>
              <a:t>【教材来源】教材印刷P.74（PDF第88页）。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【课时定位】第2课时｜语言点二控制练习</a:t>
            </a:r>
            <a:endParaRPr/>
          </a:p>
          <a:p xmlns:a="http://schemas.openxmlformats.org/drawingml/2006/main">
            <a:r>
              <a:t>【本页目标】学生能用目标句式完成三组问答。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【教学顺序】准备→问答→换角色→抽查。</a:t>
            </a:r>
            <a:endParaRPr/>
          </a:p>
          <a:p xmlns:a="http://schemas.openxmlformats.org/drawingml/2006/main">
            <a:r>
              <a:t>【教师动作/话术】只用问题关键词追问，让学生自改。</a:t>
            </a:r>
            <a:endParaRPr/>
          </a:p>
          <a:p xmlns:a="http://schemas.openxmlformats.org/drawingml/2006/main">
            <a:r>
              <a:t>【学生任务】读问题，用完整句回答。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【常见问题】只说词不说句→指问题中的句架→学生用完整句重答。</a:t>
            </a:r>
            <a:endParaRPr/>
          </a:p>
          <a:p xmlns:a="http://schemas.openxmlformats.org/drawingml/2006/main">
            <a:r>
              <a:t>【答案/检查标准】1.这件衣服很好看，也不贵。；2.苹果真便宜。；3.这个菜不太好吃。</a:t>
            </a:r>
            <a:endParaRPr/>
          </a:p>
          <a:p xmlns:a="http://schemas.openxmlformats.org/drawingml/2006/main">
            <a:r>
              <a:t>【教材来源】教材印刷P.74（PDF第88页）；教师设计补充；依据本课课文、语言点与教材练习。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【课时定位】第2课时｜问答</a:t>
            </a:r>
            <a:endParaRPr/>
          </a:p>
          <a:p xmlns:a="http://schemas.openxmlformats.org/drawingml/2006/main">
            <a:r>
              <a:t>【本页目标】完成问答并准确记录。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【教学顺序】A问→B答→记录→换角色→汇报。</a:t>
            </a:r>
            <a:endParaRPr/>
          </a:p>
          <a:p xmlns:a="http://schemas.openxmlformats.org/drawingml/2006/main">
            <a:r>
              <a:t>【教师动作/话术】检查提问和回答是否对应。</a:t>
            </a:r>
            <a:endParaRPr/>
          </a:p>
          <a:p xmlns:a="http://schemas.openxmlformats.org/drawingml/2006/main">
            <a:r>
              <a:t>【学生任务】两人问答并记录两项真实信息。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【常见问题】问答不对应→回指问词→重答并改记录。</a:t>
            </a:r>
            <a:endParaRPr/>
          </a:p>
          <a:p xmlns:a="http://schemas.openxmlformats.org/drawingml/2006/main">
            <a:r>
              <a:t>【答案/检查标准】提问可接受：这个／这件________多少钱？怎么样？；回答可接受：________块／元；很／真／不太________。；记录要求：记录一个价格和一个评价。</a:t>
            </a:r>
            <a:endParaRPr/>
          </a:p>
          <a:p xmlns:a="http://schemas.openxmlformats.org/drawingml/2006/main">
            <a:r>
              <a:t>【教材来源】印P.73/PDF87；教师设计补充；依据本课课文、语言点与教材练习。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【课时定位】第2课时｜第二课时信息差</a:t>
            </a:r>
          </a:p>
          <a:p xmlns:a="http://schemas.openxmlformats.org/drawingml/2006/main">
            <a:r>
              <a:t>【本页目标】学生能采访3人并汇报一人。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【教学顺序】独立写问题→采访→记录→汇报。</a:t>
            </a:r>
          </a:p>
          <a:p xmlns:a="http://schemas.openxmlformats.org/drawingml/2006/main">
            <a:r>
              <a:t>【教师动作/话术】要求走动采访；只核对语言，不替学生决定答案。</a:t>
            </a:r>
          </a:p>
          <a:p xmlns:a="http://schemas.openxmlformats.org/drawingml/2006/main">
            <a:r>
              <a:t>【学生任务】采访3人，记录答案，再汇报一人。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【常见问题】记录与同伴回答不一致→让同伴再说一次→学生当场改正记录。</a:t>
            </a:r>
          </a:p>
          <a:p xmlns:a="http://schemas.openxmlformats.org/drawingml/2006/main">
            <a:r>
              <a:t>【答案/检查标准】三行记录完整；汇报与记录一致。</a:t>
            </a:r>
          </a:p>
          <a:p xmlns:a="http://schemas.openxmlformats.org/drawingml/2006/main">
            <a:r>
              <a:t>【教材来源】教材印刷P.73（PDF第87页）；教师设计补充；依据本课课文、语言点与教材练习。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【课时定位】第2课时｜第二课时出口</a:t>
            </a:r>
            <a:endParaRPr/>
          </a:p>
          <a:p xmlns:a="http://schemas.openxmlformats.org/drawingml/2006/main">
            <a:r>
              <a:t>【本页目标】检查课文二词语、理解与语言点。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【教学顺序】独立写→同桌读→教师抽查。</a:t>
            </a:r>
            <a:endParaRPr/>
          </a:p>
          <a:p xmlns:a="http://schemas.openxmlformats.org/drawingml/2006/main">
            <a:r>
              <a:t>【教师动作/话术】抽查弱项并要求完整重说。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【答案/检查标准】1.这儿的水果真不少。；2.水果真不少！；3.这儿的苹果真便宜。；开放题同义且含目标结构即可。</a:t>
            </a:r>
            <a:endParaRPr/>
          </a:p>
          <a:p xmlns:a="http://schemas.openxmlformats.org/drawingml/2006/main">
            <a:r>
              <a:t>【教材来源】教材印刷P.73（PDF第87页）；教师设计补充；依据本课课文、语言点与教材练习。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【课时定位】第3课时｜第三课时检索</a:t>
            </a:r>
            <a:endParaRPr/>
          </a:p>
          <a:p xmlns:a="http://schemas.openxmlformats.org/drawingml/2006/main">
            <a:r>
              <a:t>【本页目标】学生能复现前两课时并预测课文三。</a:t>
            </a:r>
            <a:endParaRPr/>
          </a:p>
          <a:p xmlns:a="http://schemas.openxmlformats.org/drawingml/2006/main">
            <a:r>
              <a:t>【建议用时】3分钟；时间不足时保留学生产出与检查。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【教学顺序】回忆→同桌核对→看标题预测。</a:t>
            </a:r>
            <a:endParaRPr/>
          </a:p>
          <a:p xmlns:a="http://schemas.openxmlformats.org/drawingml/2006/main">
            <a:r>
              <a:t>【教师动作/话术】先让学生说，再用关键词补足。</a:t>
            </a:r>
            <a:endParaRPr/>
          </a:p>
          <a:p xmlns:a="http://schemas.openxmlformats.org/drawingml/2006/main">
            <a:r>
              <a:t>【学生任务】说出两个旧句，再预测课文三。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【常见问题】立即翻书找答案→先等待5秒并给词头→学生口头复现后再核对。</a:t>
            </a:r>
            <a:endParaRPr/>
          </a:p>
          <a:p xmlns:a="http://schemas.openxmlformats.org/drawingml/2006/main">
            <a:r>
              <a:t>【答案/检查标准】至少说出两个旧句和一个合理预测。</a:t>
            </a:r>
            <a:endParaRPr/>
          </a:p>
          <a:p xmlns:a="http://schemas.openxmlformats.org/drawingml/2006/main">
            <a:r>
              <a:t>【教材来源】教材印刷P.75（PDF第89页）；教师设计补充；依据本课课文、语言点与教材练习。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【建议用时】4分钟；时间不足时保留学生产出与检查。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【答案/检查标准】商店 shāngdiàn；衣服 yīfu；件 jiàn；元 yuán；怎么样 zěnmeyàng；检查读音，并用其中一词说完整短句。</a:t>
            </a:r>
            <a:endParaRPr/>
          </a:p>
          <a:p xmlns:a="http://schemas.openxmlformats.org/drawingml/2006/main">
            <a:r>
              <a:t>【教材来源】教材印刷P.75（PDF第89页）。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【课时定位】第3课时｜课文3听力</a:t>
            </a:r>
          </a:p>
          <a:p xmlns:a="http://schemas.openxmlformats.org/drawingml/2006/main">
            <a:r>
              <a:t>【本页目标】学生能听出三项关键信息，并用完整句核对。</a:t>
            </a:r>
          </a:p>
          <a:p xmlns:a="http://schemas.openxmlformats.org/drawingml/2006/main">
            <a:r>
              <a:t>【建议用时】4分钟；听两遍后立即同伴核对。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【教学顺序】看题预测→第一遍只听→停5秒→第二遍记录→同伴核对→完整句回答。</a:t>
            </a:r>
          </a:p>
          <a:p xmlns:a="http://schemas.openxmlformats.org/drawingml/2006/main">
            <a:r>
              <a:t>【教师动作/话术】教材音频10-5未嵌入。教师朗读两遍：第一遍自然语速完整朗读，全文后停5秒；第二遍逐句朗读，每句后停2秒。朗读稿：</a:t>
            </a:r>
          </a:p>
          <a:p xmlns:a="http://schemas.openxmlformats.org/drawingml/2006/main">
            <a:r>
              <a:t>场景：刘明和王一雪在商场给孩子买衣服。</a:t>
            </a:r>
          </a:p>
          <a:p xmlns:a="http://schemas.openxmlformats.org/drawingml/2006/main">
            <a:r>
              <a:t>王一雪：这家商店衣服真多！这件一百元，怎么样？</a:t>
            </a:r>
          </a:p>
          <a:p xmlns:a="http://schemas.openxmlformats.org/drawingml/2006/main">
            <a:r>
              <a:t>刘明：好看，也不贵。</a:t>
            </a:r>
          </a:p>
          <a:p xmlns:a="http://schemas.openxmlformats.org/drawingml/2006/main">
            <a:r>
              <a:t>王一雪：小雪能穿，买一件吧。</a:t>
            </a:r>
          </a:p>
          <a:p xmlns:a="http://schemas.openxmlformats.org/drawingml/2006/main">
            <a:r>
              <a:t>刘明：好的。小明能穿吗？</a:t>
            </a:r>
          </a:p>
          <a:p xmlns:a="http://schemas.openxmlformats.org/drawingml/2006/main">
            <a:r>
              <a:t>王一雪：不能。这些是女孩子穿的衣服，男孩子的衣服在那儿。</a:t>
            </a:r>
          </a:p>
          <a:p xmlns:a="http://schemas.openxmlformats.org/drawingml/2006/main">
            <a:r>
              <a:t>刘明：好的。</a:t>
            </a:r>
          </a:p>
          <a:p xmlns:a="http://schemas.openxmlformats.org/drawingml/2006/main">
            <a:r>
              <a:t>【学生任务】听两遍，记录三项关键信息。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【常见问题】只记零散词→重读对应关键句→补成完整答案。</a:t>
            </a:r>
          </a:p>
          <a:p xmlns:a="http://schemas.openxmlformats.org/drawingml/2006/main">
            <a:r>
              <a:t>【答案/检查标准】1.完整答案是“这件衣服一百元。”；证据：“王一雪：这家商店衣服真多！这件一百元，怎么样？”；2.完整答案是“这件衣服不贵。”；证据：“王一雪：这家商店衣服真多！这件一百元，怎么样？；刘明：好看，也不贵。”；3.完整答案是“小明不能穿这件衣服。”；证据：“刘明：好的。小明能穿吗？；王一雪：不能。这些是女孩子穿的衣服，男孩子的衣服在那儿。”；可接受同义完整句，关键信息须一致。</a:t>
            </a:r>
          </a:p>
          <a:p xmlns:a="http://schemas.openxmlformats.org/drawingml/2006/main">
            <a:r>
              <a:t>【教材来源】教材印刷P.74（PDF第88页）、教材印刷P.75（PDF第89页），课文3；其中2题为教材选择题，1题为教师设计的课文证据题；实际音频状态：未嵌入，使用教师朗读。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【课时定位】第3课时｜课文三跟读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【本页目标】学生能按六轮顺序朗读课文三。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【建议用时】5分钟；时间不足时保留学生产出与检查。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【教学顺序】默读→跟读→分角色→完整表演。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【教师动作/话术】长句先分段读，再连起来恢复自然语速。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【学生任务】核对人物和顺序，再分角色朗读。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/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【常见问题】人物或轮次混乱→指人物和顺序→学生从上一轮重新分角色朗读。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【答案/检查标准】按6轮原顺序分角色朗读；人物、轮次、汉字和拼音准确，不漏轮、不串角色。</a:t>
            </a:r>
            <a:endParaRPr sz="1400" b="0" i="0" u="non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【教材来源】教材印刷P.75（PDF第89页）。</a:t>
            </a:r>
            <a:endParaRPr sz="1400" b="0" i="0" u="non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【课时定位】第3课时｜课文三词语复现</a:t>
            </a:r>
            <a:endParaRPr/>
          </a:p>
          <a:p xmlns:a="http://schemas.openxmlformats.org/drawingml/2006/main">
            <a:r>
              <a:t>【本页目标】学生能认读本组教材词语并在句中使用。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【教学顺序】听教师读→带拼音跟读→选词→说短句。</a:t>
            </a:r>
            <a:endParaRPr/>
          </a:p>
          <a:p xmlns:a="http://schemas.openxmlformats.org/drawingml/2006/main">
            <a:r>
              <a:t>【教师动作/话术】每词领读两遍；随后指汉字，请学生说一个短句。</a:t>
            </a:r>
            <a:endParaRPr/>
          </a:p>
          <a:p xmlns:a="http://schemas.openxmlformats.org/drawingml/2006/main">
            <a:r>
              <a:t>【学生任务】跟读本组词语，再任选一个说短句。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【常见问题】声调不准或只读不说句→给首音和句头→学生重读并补成短句。</a:t>
            </a:r>
            <a:endParaRPr/>
          </a:p>
          <a:p xmlns:a="http://schemas.openxmlformats.org/drawingml/2006/main">
            <a:r>
              <a:t>【答案/检查标准】贵 guì；穿 chuān；女 nǚ；男 nán；那儿 nàr；检查读音，并用其中一词说完整短句。</a:t>
            </a:r>
            <a:endParaRPr/>
          </a:p>
          <a:p xmlns:a="http://schemas.openxmlformats.org/drawingml/2006/main">
            <a:r>
              <a:t>【教材来源】教材印刷P.75（PDF第89页）。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【课时定位】第3课时｜语言点三</a:t>
            </a:r>
            <a:endParaRPr/>
          </a:p>
          <a:p xmlns:a="http://schemas.openxmlformats.org/drawingml/2006/main">
            <a:r>
              <a:t>【本页目标】学生能使用疑问代词“怎么样”。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【教学顺序】读形式→读例句→替换→对比。</a:t>
            </a:r>
            <a:endParaRPr/>
          </a:p>
          <a:p xmlns:a="http://schemas.openxmlformats.org/drawingml/2006/main">
            <a:r>
              <a:t>【教师动作/话术】板书最短公式，马上让学生替换。</a:t>
            </a:r>
            <a:endParaRPr/>
          </a:p>
          <a:p xmlns:a="http://schemas.openxmlformats.org/drawingml/2006/main">
            <a:r>
              <a:t>【学生任务】读三组句型，再替换关键信息。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【常见问题】只背形式不会替换→标出固定位置、给一个新词→学生完成新句。</a:t>
            </a:r>
            <a:endParaRPr/>
          </a:p>
          <a:p xmlns:a="http://schemas.openxmlformats.org/drawingml/2006/main">
            <a:r>
              <a:t>【答案/检查标准】“怎么样”用于征求意见或询问情况。</a:t>
            </a:r>
            <a:endParaRPr/>
          </a:p>
          <a:p xmlns:a="http://schemas.openxmlformats.org/drawingml/2006/main">
            <a:r>
              <a:t>【教材来源】教材印刷P.76（PDF第90页）。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【课时定位】第3课时｜综合练习</a:t>
            </a:r>
          </a:p>
          <a:p xmlns:a="http://schemas.openxmlformats.org/drawingml/2006/main">
            <a:r>
              <a:t>【本页目标】学生能完成教材核心选词填空。</a:t>
            </a:r>
          </a:p>
          <a:p xmlns:a="http://schemas.openxmlformats.org/drawingml/2006/main">
            <a:r>
              <a:t>【建议用时】4分钟；时间不足时保留学生产出与检查。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【教学顺序】独立→同桌核对理由→全班读句。</a:t>
            </a:r>
          </a:p>
          <a:p xmlns:a="http://schemas.openxmlformats.org/drawingml/2006/main">
            <a:r>
              <a:t>【教师动作/话术】不先展示答案；要求说出词与位置的依据。</a:t>
            </a:r>
          </a:p>
          <a:p xmlns:a="http://schemas.openxmlformats.org/drawingml/2006/main">
            <a:r>
              <a:t>【学生任务】独立填空，再读出完整句。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【常见问题】只填词不读完整句→追问词义和位置→学生读全句并说明理由。</a:t>
            </a:r>
          </a:p>
          <a:p xmlns:a="http://schemas.openxmlformats.org/drawingml/2006/main">
            <a:r>
              <a:t>【答案/检查标准】1.请问，这本书多少钱？；2.这个杯子不便宜，六十五块钱一个。；3.售货员：这些苹果您买一些吧。王一雪：好的，我买五个。；4.安妮：这件衣服怎么样？白家月：很好看。</a:t>
            </a:r>
          </a:p>
          <a:p xmlns:a="http://schemas.openxmlformats.org/drawingml/2006/main">
            <a:r>
              <a:t>【教材来源】教材印刷P.76（PDF第90页）。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【课时定位】第3课时｜提示词输出</a:t>
            </a:r>
          </a:p>
          <a:p xmlns:a="http://schemas.openxmlformats.org/drawingml/2006/main">
            <a:r>
              <a:t>【本页目标】学生能用教材四组看图句架完成表达。</a:t>
            </a:r>
          </a:p>
          <a:p xmlns:a="http://schemas.openxmlformats.org/drawingml/2006/main">
            <a:r>
              <a:t>【建议用时】5分钟；时间不足时保留学生产出与检查。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【教学顺序】读四组提示→独立准备→同桌互说→抽查。</a:t>
            </a:r>
          </a:p>
          <a:p xmlns:a="http://schemas.openxmlformats.org/drawingml/2006/main">
            <a:r>
              <a:t>【教师动作/话术】追问人物、地点、时间或完成情况，让句子完整。</a:t>
            </a:r>
          </a:p>
          <a:p xmlns:a="http://schemas.openxmlformats.org/drawingml/2006/main">
            <a:r>
              <a:t>【学生任务】看四幅教材图片，逐项补全并读出。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【常见问题】只念提示词→追问人物、地点或动作→学生补成完整句。</a:t>
            </a:r>
          </a:p>
          <a:p xmlns:a="http://schemas.openxmlformats.org/drawingml/2006/main">
            <a:r>
              <a:t>【答案/检查标准】1.这儿的苹果真便宜。；2.这个电影怎么样？；3.那些杯子很好看，非常便宜。；4.这件衣服很好看，一件一百块。</a:t>
            </a:r>
          </a:p>
          <a:p xmlns:a="http://schemas.openxmlformats.org/drawingml/2006/main">
            <a:r>
              <a:t>【教材来源】教材印刷P.77（PDF第91页）。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【课时定位】第3课时｜活动</a:t>
            </a:r>
            <a:endParaRPr/>
          </a:p>
          <a:p xmlns:a="http://schemas.openxmlformats.org/drawingml/2006/main">
            <a:r>
              <a:t>【本页目标】按材料完成活动并分享。</a:t>
            </a:r>
            <a:endParaRPr/>
          </a:p>
          <a:p xmlns:a="http://schemas.openxmlformats.org/drawingml/2006/main">
            <a:r>
              <a:t>【建议用时】5分钟。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【教学顺序】读材料→完成→分享→核对。</a:t>
            </a:r>
            <a:endParaRPr/>
          </a:p>
          <a:p xmlns:a="http://schemas.openxmlformats.org/drawingml/2006/main">
            <a:r>
              <a:t>【教师动作/话术】示范一轮；巡视后抽查个人产出。</a:t>
            </a:r>
            <a:endParaRPr/>
          </a:p>
          <a:p xmlns:a="http://schemas.openxmlformats.org/drawingml/2006/main">
            <a:r>
              <a:t>【学生任务】按三步完成活动，再说一条本课观察。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【常见问题】漏步骤→回到当前步→个人重做。</a:t>
            </a:r>
            <a:endParaRPr/>
          </a:p>
          <a:p xmlns:a="http://schemas.openxmlformats.org/drawingml/2006/main">
            <a:r>
              <a:t>【答案/检查标准】三人完成两轮购物对话并交换角色：顾客能询价、评价并决定购买或不买，售货员能用完整句回答价格；同时能说出人民币单位元、角、分及口语块、毛、分。</a:t>
            </a:r>
            <a:endParaRPr/>
          </a:p>
          <a:p xmlns:a="http://schemas.openxmlformats.org/drawingml/2006/main">
            <a:r>
              <a:t>【教材来源】印P.72/PDF86、印P.77/PDF91；10-1为教材媒体入口；媒体文件未随PDF提供，课件未嵌入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【课时定位】第3课时｜全课出口与小结</a:t>
            </a:r>
            <a:endParaRPr/>
          </a:p>
          <a:p xmlns:a="http://schemas.openxmlformats.org/drawingml/2006/main">
            <a:r>
              <a:t>【本页目标】学生能回答课文三理解题并展示一项本课能力。</a:t>
            </a:r>
            <a:endParaRPr/>
          </a:p>
          <a:p xmlns:a="http://schemas.openxmlformats.org/drawingml/2006/main">
            <a:r>
              <a:t>【建议用时】5分钟；时间不足时保留学生产出与检查。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【教学顺序】独立写→两人互读→教师抽查→自评。</a:t>
            </a:r>
            <a:endParaRPr/>
          </a:p>
          <a:p xmlns:a="http://schemas.openxmlformats.org/drawingml/2006/main">
            <a:r>
              <a:t>【教师动作/话术】按三项目标逐项核对，不以齐读代替个人产出。</a:t>
            </a:r>
            <a:endParaRPr/>
          </a:p>
          <a:p xmlns:a="http://schemas.openxmlformats.org/drawingml/2006/main">
            <a:r>
              <a:t>【学生任务】写下三个答案，再读出一题。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【常见问题】只写不读或漏题→圈出未完成题→学生补写并读出一题。</a:t>
            </a:r>
            <a:endParaRPr/>
          </a:p>
          <a:p xmlns:a="http://schemas.openxmlformats.org/drawingml/2006/main">
            <a:r>
              <a:t>【答案/检查标准】1.王一雪想买一件。；2.男孩子的衣服在那儿。；3.6.02元读作六块零两分。；开放题同义且含目标结构即可。</a:t>
            </a:r>
            <a:endParaRPr/>
          </a:p>
          <a:p xmlns:a="http://schemas.openxmlformats.org/drawingml/2006/main">
            <a:r>
              <a:t>【教材来源】教材印刷P.75（PDF第89页）；本页为教师设计的形成性出口题，依据本课目标与教材练习。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27b30eb0744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fd0e72d894e7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1a1f76e674c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7f5e86e9642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4f3e39d6548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de5329d7e4ef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ba2dcf742456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008021723d442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05604c490403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e158367eb14c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5d2986c51414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22b555bd3d41f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42736012677483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7d2d2eede74c8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c95f76f85748c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993d08a676f420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6566a0857b4b5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b52815148341f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d490829fc0548c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cf49f9f7504eb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280d314c27f4b7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fded5f7ce0405a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e67bb8426da4d6d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0c964b2f0d740ee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50ab3380ece4b42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996474e67ac44a9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d8359b241084426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bf1182c31784525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3e2b545c83d49c3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d302c702265469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8e49e7350ed4621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4efbac287ac4a2b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f87f917dafb45a6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0f9ca1198bb4fc1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2d02a9204e041d4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15C4BA8-3487-40AC-8175-F050D08541F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B2E8BFFA-0FB8-4396-A3D5-EE9CD95639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B35E799-CF4C-43A4-865A-248A25E211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7C1CB37-CF50-41A7-AD39-37853A39DB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40B1BA2-EB72-4E6A-A370-87879B573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DF5AC7-4CBB-4E5A-AB40-62AC78F001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12B68B-3A4C-4D7A-9FD3-3943672786D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B589B68-2E8A-4730-AFBB-5EC161D4F7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8F203D4-3046-4D05-AA99-0EAA888D7F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88BF10-E430-4000-B1EB-1CE74EDFA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2F23C2-6C31-43A0-8C5E-B388490F36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03E43ED-6885-4210-BE4A-BFB2A60171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FF0E3D2-5D36-40D8-96E6-730B471375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DE7371C-DEE7-4803-B862-F993B9B527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F15B718-FD15-464A-920D-CBDAF756DC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F719504-ED9F-47B8-8327-F841EE9E71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AADD4E3-56CF-4038-A272-DBB298B9D95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3C3CA067-993E-4100-B596-8F78E79D45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83FE52D-D04F-4771-A4AC-F6B9BFBDB8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EF9E0E0-E0BB-4B8B-A090-32E752B61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593CD7B-70EF-4E44-B0BB-F97ECEF3C1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422D4-24A0-487D-ACC1-6122089C5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4254E97-CCFC-4F59-9709-DE4E3A7FEB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4D74C4D-9E2C-436E-9888-59A9220256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ECCBE05-FD41-4417-9AE7-0BCAC718F9B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FCB5F02-9200-4156-AD16-E45C2D3489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DF35944-9965-48E5-9F27-2F395E8497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D29B4E8F-B321-4450-AD21-AE8DDF991B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2E335D5-77F6-4F35-B9E7-1CCEBC399B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43B593-ED84-4789-9EC5-BFF4AF0E22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C99174-1C04-4E21-8200-35670EEEF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F716E-7FA6-4F72-9974-96C9556BD5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DCE953B-3083-4445-804E-80A857A07A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73289CD-17FC-440B-A52A-EF685D7B69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4C71829-D425-48DF-9B49-4AC33D00FD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E3CA769-D569-4FC4-B628-14A964482C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0C381B-C09C-4C50-AF41-733034309D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0D9418F-D809-4048-8A41-0327D392B5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7800276-31E2-441C-91FE-2945DA52A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10AE342-97B4-4FB5-B82D-9038D3F126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0110AA8-82DD-48E9-95CC-903E2A8C68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F87BD12-103A-4BAB-A38C-BE9D80722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527B5E-D2CB-4A05-8B9E-077348036C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67A0FCD-FC14-41F3-A005-42162F015F8E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F5C5F73-5B94-45CA-84CB-463D15532A0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60E73DF-904E-492F-84B8-5940A821A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F8C01AA0-B6AE-4711-8FE4-E5E63A50A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EDEF9EA-5041-4C82-8A5D-54E216C36B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37C3CBD-2A36-4924-A645-CE1AFD3BD6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9929B56-6CB1-4543-946B-DC8A14BFF5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1202888-F734-4620-A4E9-C99A10DB89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C80F8A-C79D-47EE-B9C8-4069ED73AE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6F87A3-BE5A-4951-9F13-409E8D841F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B3A3E21-6CC9-48A9-886F-6B5A2A721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805ABA6-139B-4649-8BCF-D9A7F1470A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F795D4-C8E4-4B20-A946-EF3B6E7D9B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C4480AB-ED66-4EDA-B9F9-E568396B5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CAFA87C-62F7-4079-B6FF-3E7A019756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正文页-10007_14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8FA658B-D7A6-4CCC-AD59-9B69B04B75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59446CB-3936-4D57-89B2-B0E97F363E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3EA229F-7B88-4383-BF9E-ED5547D09D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标题 5">
            <a:extLst xmlns:a="http://schemas.openxmlformats.org/drawingml/2006/main">
              <a:ext uri="{FF2B5EF4-FFF2-40B4-BE49-F238E27FC236}">
                <a16:creationId xmlns:a16="http://schemas.microsoft.com/office/drawing/2014/main" id="{DAEBDBAF-E11F-49DF-B58D-64119C357090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609600" y="5334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单击此处添加标题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B091E01D-CDBA-4626-8434-6406906096F9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6096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C8387154-E580-4696-806B-E3F4C89CA59D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6096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9" name="文本占位符 8">
            <a:extLst xmlns:a="http://schemas.openxmlformats.org/drawingml/2006/main">
              <a:ext uri="{FF2B5EF4-FFF2-40B4-BE49-F238E27FC236}">
                <a16:creationId xmlns:a16="http://schemas.microsoft.com/office/drawing/2014/main" id="{4BDEDDAA-C10D-4AFF-81B6-5E68EBD3ADA4}"/>
              </a:ext>
            </a:extLst>
          </p:cNvPr>
          <p:cNvSpPr>
            <a:spLocks xmlns:a="http://schemas.openxmlformats.org/drawingml/2006/main" noGrp="1"/>
          </p:cNvSpPr>
          <p:nvPr>
            <p:ph type="body" idx="16388" hasCustomPrompt="1"/>
          </p:nvPr>
        </p:nvSpPr>
        <p:spPr>
          <a:xfrm xmlns:a="http://schemas.openxmlformats.org/drawingml/2006/main">
            <a:off x="44704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0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2F264451-162D-4ECA-B42C-C1AB6E0DA282}"/>
              </a:ext>
            </a:extLst>
          </p:cNvPr>
          <p:cNvSpPr>
            <a:spLocks xmlns:a="http://schemas.openxmlformats.org/drawingml/2006/main" noGrp="1"/>
          </p:cNvSpPr>
          <p:nvPr>
            <p:ph type="body" idx="16389" hasCustomPrompt="1"/>
          </p:nvPr>
        </p:nvSpPr>
        <p:spPr>
          <a:xfrm xmlns:a="http://schemas.openxmlformats.org/drawingml/2006/main">
            <a:off x="44704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  <p:sp>
        <p:nvSpPr>
          <p:cNvPr id="11" name="文本占位符 10">
            <a:extLst xmlns:a="http://schemas.openxmlformats.org/drawingml/2006/main">
              <a:ext uri="{FF2B5EF4-FFF2-40B4-BE49-F238E27FC236}">
                <a16:creationId xmlns:a16="http://schemas.microsoft.com/office/drawing/2014/main" id="{EE7FE059-302D-4006-9A3B-1BE428462A90}"/>
              </a:ext>
            </a:extLst>
          </p:cNvPr>
          <p:cNvSpPr>
            <a:spLocks xmlns:a="http://schemas.openxmlformats.org/drawingml/2006/main" noGrp="1"/>
          </p:cNvSpPr>
          <p:nvPr>
            <p:ph type="body" idx="16390" hasCustomPrompt="1"/>
          </p:nvPr>
        </p:nvSpPr>
        <p:spPr>
          <a:xfrm xmlns:a="http://schemas.openxmlformats.org/drawingml/2006/main">
            <a:off x="8331200" y="2997200"/>
            <a:ext cx="3251200" cy="406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单击此处添加项标题</a:t>
            </a:r>
            <a:endParaRPr/>
          </a:p>
        </p:txBody>
      </p:sp>
      <p:sp>
        <p:nvSpPr>
          <p:cNvPr id="12" name="文本占位符 11">
            <a:extLst xmlns:a="http://schemas.openxmlformats.org/drawingml/2006/main">
              <a:ext uri="{FF2B5EF4-FFF2-40B4-BE49-F238E27FC236}">
                <a16:creationId xmlns:a16="http://schemas.microsoft.com/office/drawing/2014/main" id="{31BD13B0-F71D-4BBD-B3A2-9F5A6D6057AE}"/>
              </a:ext>
            </a:extLst>
          </p:cNvPr>
          <p:cNvSpPr>
            <a:spLocks xmlns:a="http://schemas.openxmlformats.org/drawingml/2006/main" noGrp="1"/>
          </p:cNvSpPr>
          <p:nvPr>
            <p:ph type="body" idx="16391" hasCustomPrompt="1"/>
          </p:nvPr>
        </p:nvSpPr>
        <p:spPr>
          <a:xfrm xmlns:a="http://schemas.openxmlformats.org/drawingml/2006/main">
            <a:off x="8331200" y="3556000"/>
            <a:ext cx="3251200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单击此处添加项正文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218C20-2B95-4230-B0A1-8DB48204440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A5291608-668A-4B24-9D2A-89E46EF905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D87ABE1-D674-4325-B5AF-FB0B344F7D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6A4CAB0-740D-4E18-A0F7-6F29A006BD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55A905E-137D-4628-B1E0-99AECFA5C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AF39BBB-2532-419E-89F2-22ABDCC9B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9028CD9-90EB-4FC3-AB65-7C899F4980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0F42AAA-5763-45AE-A01D-E00D93D742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8AB39C2-3D59-4BE8-BD6D-FAF6ADC606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14CCAF-BD65-4FCC-9D9A-426D26364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A6F233F-FFE3-466F-8525-F260B7B30F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D3E10E7-3462-4B4D-B87F-F507845FC6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26C199-EFF3-4D7D-89C4-A7ADD88043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9208E5C-A74A-41A4-8080-F9B35ED620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FDD259-014C-4F33-ABD4-0CEAFCC6C0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EB0A2A-EA4A-42B3-A351-5A08086724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E717045-B584-4336-B05E-C1B6174D546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79DB6E1-97C2-4DD2-8DC1-5357D99AE06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3CAFA89-1DA8-4A62-A04D-3B1A2F7742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B7AF832-9807-46A6-A459-DF53397F6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773D761-0FE7-4586-85C3-27B00FFE77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E753D6-4D8B-4C73-AF6A-15B2A4974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5E954FF-AFBC-4334-9E93-8924B7C8E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4B6F224-5B3C-41FA-A941-99CC96399B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75F0557-7784-4539-9440-971BC825CB1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0ADC3A9-FD30-46E0-B150-CF931907F8E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210B611-C97D-493D-9D9F-24AE4FAF3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B76DF7CE-7CD7-4BBB-89A2-4DF460B4B69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64A147E-27FA-4146-B5A7-01F8313EB5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66C663-C832-4478-A4E8-C71670C28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18945DD-ABDE-4E16-81EC-40106808E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0C69370-BB3C-4C2D-823A-B3A5C8C56D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3A1A2C3-DDDD-42AF-AC4F-4E2026AF8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1C41FDA-2FA7-401A-B281-8FB3A98212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6E911AC-0D44-4679-BB81-4EB74D7F0E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9F00D63-6B78-4147-B245-32F841976B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13490D4-DD71-47ED-9208-C014A790F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3C7FDA-791C-4363-93F6-CA072EE1FC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03C76B3-9780-4D36-B377-AB70CD8887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33BD6E6-4AE9-498E-8DA1-B162041023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13A8199-59CD-4A89-AD93-6989E962F32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F8E5A95-16DB-40DF-9288-0765DBA9F6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918E53-0951-44D7-AF8A-1B5E7BE295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9EE092E-3676-4DE5-A698-07CC2F0A00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599043B-1EBE-42D9-BA2C-82905F6649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7D8DE7C-FCE5-423A-821F-228B41499F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65F8C07-A536-4A2E-A91A-D7717454E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E77107B-2FDE-403A-8AC5-77F855CA73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A735ACB-31C9-4EA7-AF1F-0413128539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F56D3A3-6FB6-40EC-96F9-A149B6FCD1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73E713-EB8C-4435-8D30-EA24EAED9A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57C8A0D-B803-48AA-B889-6FA92EA715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21B91DF-C93C-4C98-8670-64B865490E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B6B2514-84D4-40FA-88AF-485C3F652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E68BD21-B911-4563-A044-9745CF0A0B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AFFEE3-B158-4AB9-89A2-9B6E6E21F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833C334-3AB1-49E5-A2E9-AFD858516A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F1FBB0-AC34-470D-BCD4-C41698B0FB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FA0342-62C3-4FE5-AC38-2652E5FD20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96BA2A93-F721-4F19-9BCE-B0515CA284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D49577A-6767-49E8-8C6D-5C82A22177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DF69A4-6D77-4230-8F08-9C88400CA9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CBC9BE9-32AF-46B2-8255-718743296A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D55FB9D-5FA5-4D76-8AF8-1A05C8F4E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C5FAE3A-3554-4813-A2DF-CEAC9DB41E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C4DAFC3-8DC5-41D7-8956-D1E0CB3B5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45D769E-3C67-4470-8816-C84DE9483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CF6A83B-947B-44FB-920E-DD83BAA9DD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F11F47-9194-4D99-8D84-F52DC55B7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137CD-A6FC-4281-A445-15139D5515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07F0FB5-3F82-40AA-B21C-6E8EED706E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044489-0E97-4005-8DB8-CDD80B0AE3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8BBBE5-E6FB-4EA6-82D1-0BFB931B1F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1780A8-5991-4CA5-9FF7-F2982B5B87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7802319-8192-48D4-AFB4-09A2032BD6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F285F8D-7D52-42DF-BB7F-010EFC6F78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6AF9AD3-F930-412C-9BEE-E6F03E96D80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C1A30F9-90D0-4E9F-BF1D-F63C7DB0E5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99EC2A9-B199-46B3-837C-F6208E26C4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DA5410-B35C-4245-B3A3-33AB2CB32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7B8151-FAB3-44E9-B80E-7C134CED8F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ED57F2-CD94-4E39-9EDC-A1FB468B5B0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959EEC4A-B9FC-4621-A917-53583E22FF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C5EE54E5-F064-48BF-B4D9-D772BB54FC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D76E987-4C95-44B2-BC13-D73A0EB94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857720B-B486-4898-9CA3-2069AB86F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78393832-B8A1-4AF0-AD8A-5BAC200404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A4FCBF7-C59E-45B9-A18D-8888E9198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EB8051A-44E0-42CC-858A-E095265D90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9C3D50C9-EB86-4950-85EA-1C5C59021C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04CC659-F269-48D3-A486-C1F548EC3F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F382304-F319-4767-8655-30523156CA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0803552-4D84-46F8-82C0-14C36F157A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3BB43CE-0ADC-4ED2-B0BB-382108A49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615C7CF-B971-4B3E-A687-F8740373C8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0846982-DE3D-4EE5-B138-5248B0EC09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0041D7C-A840-4BD5-A49E-DAD90A3FAF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84598-6269-4E3C-AB32-429FC351F8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FD09F2-A9E4-4544-9FD3-CE3FF6FA3A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CFA512C-709C-4C07-8D95-4F870F0EB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7EDE43-F08F-4E36-A9A0-6B822667D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1C981ACE-DFBE-46A9-8602-4D5CADA1343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499235-B654-4E06-AA9F-4EDC509776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D3108D6-03CD-40A5-90A2-C136950F76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E709537-BA77-4DAE-A747-3A79D02D17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F3A9FD-0113-4BA1-BBCC-5184508B54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C282E-B51E-4B0B-A1B3-0C2B38E51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5EA4348-EC0A-455C-A742-A6AD7BBCD0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379B4A-BE65-4F20-A4F9-74D5FB4C75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33C7C04-A69F-45E6-AADB-C50D9EBCD2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7F875AF-E978-404F-AF6E-EE894CBD67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69D22EE-EC50-4216-B52E-281183B974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E7D24B0-D18B-4E92-BA4B-986CDC348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52D6FDC-CAE7-4F6F-9C58-9D1915D031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3B33DC4-7BE3-43D0-92C8-8DE3D80BA3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B7A1AAF-1221-43CA-B5C2-FE10C186C9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>
  <p:cSld name="MASTER"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3AD729-5FB0-4503-8EAC-FADB40C8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1320" y="6473952"/>
            <a:ext cx="1143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9A8776"/>
                </a:solidFill>
                <a:latin typeface="微软雅黑"/>
                <a:ea typeface="微软雅黑"/>
                <a:cs typeface="微软雅黑"/>
              </a:rPr>
              <a:t>HSK 1 · 第三课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5702CB9-C462-423C-AA1F-6A40DBCDF7F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59184" y="6446520"/>
            <a:ext cx="228600" cy="1828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750">
                <a:solidFill>
                  <a:srgbClr val="9A8776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0501a6604443fc" /><Relationship Type="http://schemas.openxmlformats.org/officeDocument/2006/relationships/slideLayout" Target="/ppt/slideLayouts/slideLayout1.xml" Id="R12dca9fa4baa4891" /><Relationship Type="http://schemas.openxmlformats.org/officeDocument/2006/relationships/slideLayout" Target="/ppt/slideLayouts/slideLayout2.xml" Id="R10849dd3234b4fde" /><Relationship Type="http://schemas.openxmlformats.org/officeDocument/2006/relationships/slideLayout" Target="/ppt/slideLayouts/slideLayout3.xml" Id="R296fe60b57ce4df4" /><Relationship Type="http://schemas.openxmlformats.org/officeDocument/2006/relationships/slideLayout" Target="/ppt/slideLayouts/slideLayout4.xml" Id="Ra572275da3b64747" /><Relationship Type="http://schemas.openxmlformats.org/officeDocument/2006/relationships/slideLayout" Target="/ppt/slideLayouts/slideLayout5.xml" Id="R6bb471f92d55442a" /><Relationship Type="http://schemas.openxmlformats.org/officeDocument/2006/relationships/slideLayout" Target="/ppt/slideLayouts/slideLayout6.xml" Id="Rd3992882c0ac48d8" /><Relationship Type="http://schemas.openxmlformats.org/officeDocument/2006/relationships/slideLayout" Target="/ppt/slideLayouts/slideLayout7.xml" Id="R868f127f05514b97" /><Relationship Type="http://schemas.openxmlformats.org/officeDocument/2006/relationships/slideLayout" Target="/ppt/slideLayouts/slideLayout8.xml" Id="Rfe8f97412300489e" /><Relationship Type="http://schemas.openxmlformats.org/officeDocument/2006/relationships/slideLayout" Target="/ppt/slideLayouts/slideLayout9.xml" Id="R1fe54e9a402347f4" /><Relationship Type="http://schemas.openxmlformats.org/officeDocument/2006/relationships/slideLayout" Target="/ppt/slideLayouts/slideLayout10.xml" Id="R737902e7635c480b" /><Relationship Type="http://schemas.openxmlformats.org/officeDocument/2006/relationships/slideLayout" Target="/ppt/slideLayouts/slideLayout11.xml" Id="Rd6351d8efc664a3c" /><Relationship Type="http://schemas.openxmlformats.org/officeDocument/2006/relationships/slideLayout" Target="/ppt/slideLayouts/slideLayout12.xml" Id="R2682e17d3c9043b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22226c4ad904bf8" /><Relationship Type="http://schemas.openxmlformats.org/officeDocument/2006/relationships/slideLayout" Target="/ppt/slideLayouts/slideLayout13.xml" Id="Rd5718889146243a3" /><Relationship Type="http://schemas.openxmlformats.org/officeDocument/2006/relationships/slideLayout" Target="/ppt/slideLayouts/slideLayout14.xml" Id="R6e4f314260434a46" /><Relationship Type="http://schemas.openxmlformats.org/officeDocument/2006/relationships/slideLayout" Target="/ppt/slideLayouts/slideLayout15.xml" Id="Rc4b3862ff58d4708" /><Relationship Type="http://schemas.openxmlformats.org/officeDocument/2006/relationships/slideLayout" Target="/ppt/slideLayouts/slideLayout16.xml" Id="R252d9311f50b4835" /><Relationship Type="http://schemas.openxmlformats.org/officeDocument/2006/relationships/slideLayout" Target="/ppt/slideLayouts/slideLayout17.xml" Id="Re8b066fd889f437f" /><Relationship Type="http://schemas.openxmlformats.org/officeDocument/2006/relationships/slideLayout" Target="/ppt/slideLayouts/slideLayout18.xml" Id="R567dd03fd9064f17" /><Relationship Type="http://schemas.openxmlformats.org/officeDocument/2006/relationships/slideLayout" Target="/ppt/slideLayouts/slideLayout19.xml" Id="R8614ea5d4f5b433f" /><Relationship Type="http://schemas.openxmlformats.org/officeDocument/2006/relationships/slideLayout" Target="/ppt/slideLayouts/slideLayout20.xml" Id="R5bf93c9adf294385" /><Relationship Type="http://schemas.openxmlformats.org/officeDocument/2006/relationships/slideLayout" Target="/ppt/slideLayouts/slideLayout21.xml" Id="R6bc66338ee2441a7" /><Relationship Type="http://schemas.openxmlformats.org/officeDocument/2006/relationships/slideLayout" Target="/ppt/slideLayouts/slideLayout22.xml" Id="R115127a869fa4592" /><Relationship Type="http://schemas.openxmlformats.org/officeDocument/2006/relationships/slideLayout" Target="/ppt/slideLayouts/slideLayout23.xml" Id="Rad1cee4db46e4dd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1ea6f24eb2a4121" /><Relationship Type="http://schemas.openxmlformats.org/officeDocument/2006/relationships/slideLayout" Target="/ppt/slideLayouts/slideLayout24.xml" Id="R33d726bdaa124cef" /><Relationship Type="http://schemas.openxmlformats.org/officeDocument/2006/relationships/slideLayout" Target="/ppt/slideLayouts/slideLayout25.xml" Id="Red7cb940ffd144b1" /><Relationship Type="http://schemas.openxmlformats.org/officeDocument/2006/relationships/slideLayout" Target="/ppt/slideLayouts/slideLayout26.xml" Id="Rf0038b02dfa74458" /><Relationship Type="http://schemas.openxmlformats.org/officeDocument/2006/relationships/slideLayout" Target="/ppt/slideLayouts/slideLayout27.xml" Id="R149e843fc734472d" /><Relationship Type="http://schemas.openxmlformats.org/officeDocument/2006/relationships/slideLayout" Target="/ppt/slideLayouts/slideLayout28.xml" Id="Rafe87aee164349a1" /><Relationship Type="http://schemas.openxmlformats.org/officeDocument/2006/relationships/slideLayout" Target="/ppt/slideLayouts/slideLayout29.xml" Id="R9f7fc7056196446b" /><Relationship Type="http://schemas.openxmlformats.org/officeDocument/2006/relationships/slideLayout" Target="/ppt/slideLayouts/slideLayout30.xml" Id="R95f1925f8636464c" /><Relationship Type="http://schemas.openxmlformats.org/officeDocument/2006/relationships/slideLayout" Target="/ppt/slideLayouts/slideLayout31.xml" Id="R41dc0a7a1f6a4da7" /><Relationship Type="http://schemas.openxmlformats.org/officeDocument/2006/relationships/slideLayout" Target="/ppt/slideLayouts/slideLayout32.xml" Id="Re3b03922f8694fb6" /><Relationship Type="http://schemas.openxmlformats.org/officeDocument/2006/relationships/slideLayout" Target="/ppt/slideLayouts/slideLayout33.xml" Id="Rba3d6db3bc4c42e2" /><Relationship Type="http://schemas.openxmlformats.org/officeDocument/2006/relationships/slideLayout" Target="/ppt/slideLayouts/slideLayout34.xml" Id="R5c61b035dcd64c72" /><Relationship Type="http://schemas.openxmlformats.org/officeDocument/2006/relationships/slideLayout" Target="/ppt/slideLayouts/slideLayout35.xml" Id="R2467dabd0c424d9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360C4AA4-E39D-49F5-9AD1-3A2C638E1E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67F0A28-43D5-4931-8A63-7A4B895A25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7E40E75-04DB-4D84-9F35-E30F3F5A96F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31D6032-9F9E-4617-AC76-558EDB7B40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021A58-41A1-4584-9CEE-3096DCA9B5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dca9fa4baa4891"/>
    <p:sldLayoutId xmlns:r="http://schemas.openxmlformats.org/officeDocument/2006/relationships" id="2147483650" r:id="R10849dd3234b4fde"/>
    <p:sldLayoutId xmlns:r="http://schemas.openxmlformats.org/officeDocument/2006/relationships" id="2147483651" r:id="R296fe60b57ce4df4"/>
    <p:sldLayoutId xmlns:r="http://schemas.openxmlformats.org/officeDocument/2006/relationships" id="2147483652" r:id="Ra572275da3b64747"/>
    <p:sldLayoutId xmlns:r="http://schemas.openxmlformats.org/officeDocument/2006/relationships" id="2147483653" r:id="R6bb471f92d55442a"/>
    <p:sldLayoutId xmlns:r="http://schemas.openxmlformats.org/officeDocument/2006/relationships" id="2147483654" r:id="Rd3992882c0ac48d8"/>
    <p:sldLayoutId xmlns:r="http://schemas.openxmlformats.org/officeDocument/2006/relationships" id="2147483655" r:id="R868f127f05514b97"/>
    <p:sldLayoutId xmlns:r="http://schemas.openxmlformats.org/officeDocument/2006/relationships" id="2147483656" r:id="Rfe8f97412300489e"/>
    <p:sldLayoutId xmlns:r="http://schemas.openxmlformats.org/officeDocument/2006/relationships" id="2147483657" r:id="R1fe54e9a402347f4"/>
    <p:sldLayoutId xmlns:r="http://schemas.openxmlformats.org/officeDocument/2006/relationships" id="2147483658" r:id="R737902e7635c480b"/>
    <p:sldLayoutId xmlns:r="http://schemas.openxmlformats.org/officeDocument/2006/relationships" id="2147483659" r:id="Rd6351d8efc664a3c"/>
    <p:sldLayoutId xmlns:r="http://schemas.openxmlformats.org/officeDocument/2006/relationships" id="2147483660" r:id="R2682e17d3c9043b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84549D2-8037-4225-BEE4-D7511D40E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7AD1A5C-B3CE-42FF-9387-154062CE0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E6DE7F8-6DB4-42F2-8DBA-7249FC98F48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8F10573-EF25-492C-A904-1039A7B1889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9F9CC6-73C7-4867-BEB9-35FE6F9E37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d5718889146243a3"/>
    <p:sldLayoutId xmlns:r="http://schemas.openxmlformats.org/officeDocument/2006/relationships" id="2147483663" r:id="R6e4f314260434a46"/>
    <p:sldLayoutId xmlns:r="http://schemas.openxmlformats.org/officeDocument/2006/relationships" id="2147483664" r:id="Rc4b3862ff58d4708"/>
    <p:sldLayoutId xmlns:r="http://schemas.openxmlformats.org/officeDocument/2006/relationships" id="2147483665" r:id="R252d9311f50b4835"/>
    <p:sldLayoutId xmlns:r="http://schemas.openxmlformats.org/officeDocument/2006/relationships" id="2147483666" r:id="Re8b066fd889f437f"/>
    <p:sldLayoutId xmlns:r="http://schemas.openxmlformats.org/officeDocument/2006/relationships" id="2147483667" r:id="R567dd03fd9064f17"/>
    <p:sldLayoutId xmlns:r="http://schemas.openxmlformats.org/officeDocument/2006/relationships" id="2147483668" r:id="R8614ea5d4f5b433f"/>
    <p:sldLayoutId xmlns:r="http://schemas.openxmlformats.org/officeDocument/2006/relationships" id="2147483669" r:id="R5bf93c9adf294385"/>
    <p:sldLayoutId xmlns:r="http://schemas.openxmlformats.org/officeDocument/2006/relationships" id="2147483670" r:id="R6bc66338ee2441a7"/>
    <p:sldLayoutId xmlns:r="http://schemas.openxmlformats.org/officeDocument/2006/relationships" id="2147483671" r:id="R115127a869fa4592"/>
    <p:sldLayoutId xmlns:r="http://schemas.openxmlformats.org/officeDocument/2006/relationships" id="2147483672" r:id="Rad1cee4db46e4dd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55F3D5F-8727-40A0-A2F7-72D827517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8B1BD4B-648B-4F95-A60E-D510BD76FF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01C3CD-891C-4D05-8F88-F5D9F382BCC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DFAF80-F2C9-4230-A379-0C713EC4C18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3A1E2A0-FF79-446F-9738-B787386F440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33d726bdaa124cef"/>
    <p:sldLayoutId xmlns:r="http://schemas.openxmlformats.org/officeDocument/2006/relationships" id="2147483675" r:id="Red7cb940ffd144b1"/>
    <p:sldLayoutId xmlns:r="http://schemas.openxmlformats.org/officeDocument/2006/relationships" id="2147483676" r:id="Rf0038b02dfa74458"/>
    <p:sldLayoutId xmlns:r="http://schemas.openxmlformats.org/officeDocument/2006/relationships" id="2147483677" r:id="R149e843fc734472d"/>
    <p:sldLayoutId xmlns:r="http://schemas.openxmlformats.org/officeDocument/2006/relationships" id="2147483678" r:id="Rafe87aee164349a1"/>
    <p:sldLayoutId xmlns:r="http://schemas.openxmlformats.org/officeDocument/2006/relationships" id="2147483679" r:id="R9f7fc7056196446b"/>
    <p:sldLayoutId xmlns:r="http://schemas.openxmlformats.org/officeDocument/2006/relationships" id="2147483680" r:id="R95f1925f8636464c"/>
    <p:sldLayoutId xmlns:r="http://schemas.openxmlformats.org/officeDocument/2006/relationships" id="2147483681" r:id="R41dc0a7a1f6a4da7"/>
    <p:sldLayoutId xmlns:r="http://schemas.openxmlformats.org/officeDocument/2006/relationships" id="2147483682" r:id="Re3b03922f8694fb6"/>
    <p:sldLayoutId xmlns:r="http://schemas.openxmlformats.org/officeDocument/2006/relationships" id="2147483683" r:id="Rba3d6db3bc4c42e2"/>
    <p:sldLayoutId xmlns:r="http://schemas.openxmlformats.org/officeDocument/2006/relationships" id="2147483684" r:id="R5c61b035dcd64c72"/>
    <p:sldLayoutId xmlns:r="http://schemas.openxmlformats.org/officeDocument/2006/relationships" id="2147483685" r:id="R2467dabd0c424d9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793af9c5f42a9" /><Relationship Type="http://schemas.openxmlformats.org/officeDocument/2006/relationships/notesSlide" Target="/ppt/notesSlides/notesSlide1.xml" Id="Ra6a4d92b3e7741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30d192bebe44930" /><Relationship Type="http://schemas.openxmlformats.org/officeDocument/2006/relationships/image" Target="/ppt/media/image.jpeg" Id="R704ee2ab10dc4a24" /><Relationship Type="http://schemas.openxmlformats.org/officeDocument/2006/relationships/image" Target="/ppt/media/image2.jpeg" Id="R0044366d8da64213" /><Relationship Type="http://schemas.openxmlformats.org/officeDocument/2006/relationships/image" Target="/ppt/media/image3.jpeg" Id="Rd2d84485a17747b1" /><Relationship Type="http://schemas.openxmlformats.org/officeDocument/2006/relationships/image" Target="/ppt/media/image4.jpeg" Id="R7b2be65ac24e4b6d" /><Relationship Type="http://schemas.openxmlformats.org/officeDocument/2006/relationships/image" Target="/ppt/media/image5.jpeg" Id="R0a1ca643308847a9" /><Relationship Type="http://schemas.openxmlformats.org/officeDocument/2006/relationships/image" Target="/ppt/media/image6.jpeg" Id="R6ac4a21111954826" /><Relationship Type="http://schemas.openxmlformats.org/officeDocument/2006/relationships/notesSlide" Target="/ppt/notesSlides/notesSlide2.xml" Id="R183eea6c0dc14e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36feef70f64e95" /><Relationship Type="http://schemas.openxmlformats.org/officeDocument/2006/relationships/image" Target="/ppt/media/image7.jpeg" Id="R558c438b3c0144bd" /><Relationship Type="http://schemas.openxmlformats.org/officeDocument/2006/relationships/notesSlide" Target="/ppt/notesSlides/notesSlide3.xml" Id="Reddcad743f9f4f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a16f46740a9481a" /><Relationship Type="http://schemas.openxmlformats.org/officeDocument/2006/relationships/notesSlide" Target="/ppt/notesSlides/notesSlide4.xml" Id="R1c6b54b1837349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c7d206f674ef2" /><Relationship Type="http://schemas.openxmlformats.org/officeDocument/2006/relationships/image" Target="/ppt/media/image8.jpeg" Id="Re7ff93fc5db643ee" /><Relationship Type="http://schemas.openxmlformats.org/officeDocument/2006/relationships/notesSlide" Target="/ppt/notesSlides/notesSlide5.xml" Id="Ra5cd71400daa46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50fe4d183094e78" /><Relationship Type="http://schemas.openxmlformats.org/officeDocument/2006/relationships/image" Target="/ppt/media/image9.jpeg" Id="Rfa565d96cded4eab" /><Relationship Type="http://schemas.openxmlformats.org/officeDocument/2006/relationships/notesSlide" Target="/ppt/notesSlides/notesSlide6.xml" Id="Rd974d94db36f40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e063ab028a47c0" /><Relationship Type="http://schemas.openxmlformats.org/officeDocument/2006/relationships/notesSlide" Target="/ppt/notesSlides/notesSlide7.xml" Id="R30ec2e13216f44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453d61a62b4480" /><Relationship Type="http://schemas.openxmlformats.org/officeDocument/2006/relationships/image" Target="/ppt/media/image.png" Id="R9fdfbcebde4e47e5" /><Relationship Type="http://schemas.openxmlformats.org/officeDocument/2006/relationships/image" Target="/ppt/media/image2.png" Id="R996a244b491247ba" /><Relationship Type="http://schemas.openxmlformats.org/officeDocument/2006/relationships/image" Target="/ppt/media/image3.png" Id="R93a02ccdb27c44ef" /><Relationship Type="http://schemas.openxmlformats.org/officeDocument/2006/relationships/notesSlide" Target="/ppt/notesSlides/notesSlide8.xml" Id="R18421cf157b742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923f7d0ac44835" /><Relationship Type="http://schemas.openxmlformats.org/officeDocument/2006/relationships/notesSlide" Target="/ppt/notesSlides/notesSlide9.xml" Id="R7b3b365c57fd4cd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d482ce0354d53" /><Relationship Type="http://schemas.openxmlformats.org/officeDocument/2006/relationships/notesSlide" Target="/ppt/notesSlides/notesSlide10.xml" Id="R7f3706b464c34e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face3b15bc4783" /><Relationship Type="http://schemas.openxmlformats.org/officeDocument/2006/relationships/notesSlide" Target="/ppt/notesSlides/notesSlide11.xml" Id="R83f4c4b8798b4f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26d5ea8c5c64698" /><Relationship Type="http://schemas.openxmlformats.org/officeDocument/2006/relationships/image" Target="/ppt/media/image10.jpeg" Id="R32baeaeadd064fa7" /><Relationship Type="http://schemas.openxmlformats.org/officeDocument/2006/relationships/notesSlide" Target="/ppt/notesSlides/notesSlide12.xml" Id="R46d4b8bb8a9b4b0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055c0256d9e4d1b" /><Relationship Type="http://schemas.openxmlformats.org/officeDocument/2006/relationships/notesSlide" Target="/ppt/notesSlides/notesSlide13.xml" Id="R33dc203f5b8f40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66b84c50c4614" /><Relationship Type="http://schemas.openxmlformats.org/officeDocument/2006/relationships/image" Target="/ppt/media/image11.jpeg" Id="Rbf69aec92f054667" /><Relationship Type="http://schemas.openxmlformats.org/officeDocument/2006/relationships/notesSlide" Target="/ppt/notesSlides/notesSlide14.xml" Id="R09386eca585b4f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8d40deb5054e15" /><Relationship Type="http://schemas.openxmlformats.org/officeDocument/2006/relationships/image" Target="/ppt/media/image12.jpeg" Id="Rfc93d9daf89f4f62" /><Relationship Type="http://schemas.openxmlformats.org/officeDocument/2006/relationships/notesSlide" Target="/ppt/notesSlides/notesSlide15.xml" Id="R3724106ccd5b42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b41c6eef814798" /><Relationship Type="http://schemas.openxmlformats.org/officeDocument/2006/relationships/notesSlide" Target="/ppt/notesSlides/notesSlide16.xml" Id="Rbea0a051ce1c43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643dd96f54343ef" /><Relationship Type="http://schemas.openxmlformats.org/officeDocument/2006/relationships/image" Target="/ppt/media/image4.png" Id="Rae45829f97bb496e" /><Relationship Type="http://schemas.openxmlformats.org/officeDocument/2006/relationships/image" Target="/ppt/media/image5.png" Id="R5ad7a3404992485d" /><Relationship Type="http://schemas.openxmlformats.org/officeDocument/2006/relationships/image" Target="/ppt/media/image6.png" Id="Rb93fb6a05e1b4d59" /><Relationship Type="http://schemas.openxmlformats.org/officeDocument/2006/relationships/notesSlide" Target="/ppt/notesSlides/notesSlide17.xml" Id="Rc37df338866a4c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2a32acc51c44ba" /><Relationship Type="http://schemas.openxmlformats.org/officeDocument/2006/relationships/notesSlide" Target="/ppt/notesSlides/notesSlide18.xml" Id="R45d09743db824fa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8747f03c5124fdd" /><Relationship Type="http://schemas.openxmlformats.org/officeDocument/2006/relationships/notesSlide" Target="/ppt/notesSlides/notesSlide19.xml" Id="R85d5da5fa345410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3757c4ce64ec6" /><Relationship Type="http://schemas.openxmlformats.org/officeDocument/2006/relationships/notesSlide" Target="/ppt/notesSlides/notesSlide20.xml" Id="R245a63d7f5a047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19d09f91054aaf" /><Relationship Type="http://schemas.openxmlformats.org/officeDocument/2006/relationships/notesSlide" Target="/ppt/notesSlides/notesSlide21.xml" Id="R2c00c67afd47404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bbe2a6a8674267" /><Relationship Type="http://schemas.openxmlformats.org/officeDocument/2006/relationships/image" Target="/ppt/media/image13.jpeg" Id="R825298b551b3415b" /><Relationship Type="http://schemas.openxmlformats.org/officeDocument/2006/relationships/notesSlide" Target="/ppt/notesSlides/notesSlide22.xml" Id="Rd8aceab76da048a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f092a0f49dc464f" /><Relationship Type="http://schemas.openxmlformats.org/officeDocument/2006/relationships/notesSlide" Target="/ppt/notesSlides/notesSlide23.xml" Id="R6e977509cf7843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ba603d81b4e4d" /><Relationship Type="http://schemas.openxmlformats.org/officeDocument/2006/relationships/image" Target="/ppt/media/image14.jpeg" Id="R45f72af42bb44cba" /><Relationship Type="http://schemas.openxmlformats.org/officeDocument/2006/relationships/notesSlide" Target="/ppt/notesSlides/notesSlide24.xml" Id="R8d5eec7ec82c4ee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dc5ddb069cb4024" /><Relationship Type="http://schemas.openxmlformats.org/officeDocument/2006/relationships/image" Target="/ppt/media/image15.jpeg" Id="Rbe9be79778754ab7" /><Relationship Type="http://schemas.openxmlformats.org/officeDocument/2006/relationships/notesSlide" Target="/ppt/notesSlides/notesSlide25.xml" Id="Rcda552291c894b2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bc58f6f06fd49fc" /><Relationship Type="http://schemas.openxmlformats.org/officeDocument/2006/relationships/notesSlide" Target="/ppt/notesSlides/notesSlide26.xml" Id="Re267eb12e6504fb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45f1247f7be4a07" /><Relationship Type="http://schemas.openxmlformats.org/officeDocument/2006/relationships/notesSlide" Target="/ppt/notesSlides/notesSlide27.xml" Id="R760a02ea93884b8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722ac774a0743ec" /><Relationship Type="http://schemas.openxmlformats.org/officeDocument/2006/relationships/image" Target="/ppt/media/image7.png" Id="Rc9e492f3a5c04858" /><Relationship Type="http://schemas.openxmlformats.org/officeDocument/2006/relationships/image" Target="/ppt/media/image8.png" Id="Raa14aa3669b84c79" /><Relationship Type="http://schemas.openxmlformats.org/officeDocument/2006/relationships/notesSlide" Target="/ppt/notesSlides/notesSlide28.xml" Id="R98904556f55c46a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38bf55e7bf4871" /><Relationship Type="http://schemas.openxmlformats.org/officeDocument/2006/relationships/notesSlide" Target="/ppt/notesSlides/notesSlide29.xml" Id="Ra2da8da02588426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3d59bc5bb47d9" /><Relationship Type="http://schemas.openxmlformats.org/officeDocument/2006/relationships/notesSlide" Target="/ppt/notesSlides/notesSlide30.xml" Id="Rf3d2c7e2b92b46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C33D17D3-D8B0-4424-90BD-EEAB9F85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第10课｜这儿的苹果真便宜！  Lesson 10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38C8B14-8BD4-45F4-B5D9-4FBC822D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4C26C94-0250-4B97-A72A-D79EA18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读课题，说说你认识哪些词。</a:t>
            </a:r>
          </a:p>
        </p:txBody>
      </p:sp>
      <p:sp>
        <p:nvSpPr>
          <p:cNvPr id="5" name="cover-series">
            <a:extLst xmlns:a="http://schemas.openxmlformats.org/drawingml/2006/main">
              <a:ext uri="{FF2B5EF4-FFF2-40B4-BE49-F238E27FC236}">
                <a16:creationId xmlns:a16="http://schemas.microsoft.com/office/drawing/2014/main" id="{09C4A962-3B2D-4665-9AE9-A568A9A5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97423B"/>
                </a:solidFill>
              </a:defRPr>
            </a:pPr>
            <a:r>
              <a:rPr sz="25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HSK教程</a:t>
            </a:r>
          </a:p>
        </p:txBody>
      </p:sp>
      <p:sp>
        <p:nvSpPr>
          <p:cNvPr id="6" name="cover-volume">
            <a:extLst xmlns:a="http://schemas.openxmlformats.org/drawingml/2006/main">
              <a:ext uri="{FF2B5EF4-FFF2-40B4-BE49-F238E27FC236}">
                <a16:creationId xmlns:a16="http://schemas.microsoft.com/office/drawing/2014/main" id="{517E56B8-CEF1-40EC-AE5C-BE24C59E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8605A"/>
                </a:solidFill>
              </a:defRPr>
            </a:pPr>
            <a:r>
              <a:rPr sz="2025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第一册</a:t>
            </a:r>
          </a:p>
        </p:txBody>
      </p:sp>
      <p:sp>
        <p:nvSpPr>
          <p:cNvPr id="7" name="cover-lesson">
            <a:extLst xmlns:a="http://schemas.openxmlformats.org/drawingml/2006/main">
              <a:ext uri="{FF2B5EF4-FFF2-40B4-BE49-F238E27FC236}">
                <a16:creationId xmlns:a16="http://schemas.microsoft.com/office/drawing/2014/main" id="{3C01B12D-0E37-4C78-BA15-03258D92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F5449"/>
                </a:solidFill>
              </a:defRPr>
            </a:pPr>
            <a:r>
              <a:rPr sz="2850" b="1">
                <a:solidFill>
                  <a:srgbClr val="BF5449"/>
                </a:solidFill>
                <a:latin typeface="KaiTi"/>
                <a:ea typeface="KaiTi"/>
                <a:cs typeface="KaiTi"/>
              </a:rPr>
              <a:t>第10课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1AD7FDB-8F74-4ED1-976F-C6A7869A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这儿的苹果真便宜！</a:t>
            </a:r>
          </a:p>
        </p:txBody>
      </p:sp>
      <p:sp>
        <p:nvSpPr>
          <p:cNvPr id="9" name="cover-rule">
            <a:extLst xmlns:a="http://schemas.openxmlformats.org/drawingml/2006/main">
              <a:ext uri="{FF2B5EF4-FFF2-40B4-BE49-F238E27FC236}">
                <a16:creationId xmlns:a16="http://schemas.microsoft.com/office/drawing/2014/main" id="{788C2703-AB9E-4912-8731-3B45149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19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-label">
            <a:extLst xmlns:a="http://schemas.openxmlformats.org/drawingml/2006/main">
              <a:ext uri="{FF2B5EF4-FFF2-40B4-BE49-F238E27FC236}">
                <a16:creationId xmlns:a16="http://schemas.microsoft.com/office/drawing/2014/main" id="{10BCF8CB-9CC9-4C23-AE3A-0EDF5FE9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859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97423B"/>
                </a:solidFill>
              </a:defRPr>
            </a:pPr>
            <a:r>
              <a:rPr sz="21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学完本课，我会</a:t>
            </a:r>
          </a:p>
        </p:txBody>
      </p:sp>
      <p:sp>
        <p:nvSpPr>
          <p:cNvPr id="11" name="goal-no-1">
            <a:extLst xmlns:a="http://schemas.openxmlformats.org/drawingml/2006/main">
              <a:ext uri="{FF2B5EF4-FFF2-40B4-BE49-F238E27FC236}">
                <a16:creationId xmlns:a16="http://schemas.microsoft.com/office/drawing/2014/main" id="{1D44B8C3-FD18-48B0-96F6-B998925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09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12" name="goal-1">
            <a:extLst xmlns:a="http://schemas.openxmlformats.org/drawingml/2006/main">
              <a:ext uri="{FF2B5EF4-FFF2-40B4-BE49-F238E27FC236}">
                <a16:creationId xmlns:a16="http://schemas.microsoft.com/office/drawing/2014/main" id="{2A8610A6-51DB-4323-9B7C-FC54387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622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询问并听懂商品价格</a:t>
            </a:r>
          </a:p>
        </p:txBody>
      </p:sp>
      <p:sp>
        <p:nvSpPr>
          <p:cNvPr id="13" name="goal-no-2">
            <a:extLst xmlns:a="http://schemas.openxmlformats.org/drawingml/2006/main">
              <a:ext uri="{FF2B5EF4-FFF2-40B4-BE49-F238E27FC236}">
                <a16:creationId xmlns:a16="http://schemas.microsoft.com/office/drawing/2014/main" id="{217AE894-226E-4319-A949-A6513EBF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67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4" name="goal-2">
            <a:extLst xmlns:a="http://schemas.openxmlformats.org/drawingml/2006/main">
              <a:ext uri="{FF2B5EF4-FFF2-40B4-BE49-F238E27FC236}">
                <a16:creationId xmlns:a16="http://schemas.microsoft.com/office/drawing/2014/main" id="{5A0FE2CA-CDE7-4EBE-8C6C-9B1AD91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用形容词谓语句评价商品</a:t>
            </a:r>
          </a:p>
        </p:txBody>
      </p:sp>
      <p:sp>
        <p:nvSpPr>
          <p:cNvPr id="15" name="goal-no-3">
            <a:extLst xmlns:a="http://schemas.openxmlformats.org/drawingml/2006/main">
              <a:ext uri="{FF2B5EF4-FFF2-40B4-BE49-F238E27FC236}">
                <a16:creationId xmlns:a16="http://schemas.microsoft.com/office/drawing/2014/main" id="{E0EBBFD2-C125-4DA6-A83C-95530612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24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6" name="goal-3">
            <a:extLst xmlns:a="http://schemas.openxmlformats.org/drawingml/2006/main">
              <a:ext uri="{FF2B5EF4-FFF2-40B4-BE49-F238E27FC236}">
                <a16:creationId xmlns:a16="http://schemas.microsoft.com/office/drawing/2014/main" id="{647B7265-020F-4CD7-8031-0F50AD4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76725"/>
            <a:ext cx="319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用“怎么样”并认识人民币</a:t>
            </a:r>
          </a:p>
        </p:txBody>
      </p:sp>
      <p:sp>
        <p:nvSpPr>
          <p:cNvPr id="17" name="lesson-keywords">
            <a:extLst xmlns:a="http://schemas.openxmlformats.org/drawingml/2006/main">
              <a:ext uri="{FF2B5EF4-FFF2-40B4-BE49-F238E27FC236}">
                <a16:creationId xmlns:a16="http://schemas.microsoft.com/office/drawing/2014/main" id="{295FA007-FB85-4194-A0B4-8BF7952A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多少钱｜人民币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68605A"/>
                </a:solidFill>
              </a:defRPr>
            </a:pPr>
            <a:r>
              <a:rPr sz="2250" b="0">
                <a:solidFill>
                  <a:srgbClr val="68605A"/>
                </a:solidFill>
                <a:latin typeface="KaiTi"/>
                <a:ea typeface="KaiTi"/>
                <a:cs typeface="KaiTi"/>
              </a:rPr>
              <a:t>形容词谓语句｜怎么样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35B1C18-F002-4E1D-8D2D-BA45E451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D2B6DF69-85B1-4C3F-81E9-AD91EF0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01</a:t>
            </a:r>
          </a:p>
        </p:txBody>
      </p:sp>
    </p:spTree>
    <p:extLst>
      <p:ext uri="{BB962C8B-B14F-4D97-AF65-F5344CB8AC3E}">
        <p14:creationId xmlns:p14="http://schemas.microsoft.com/office/powerpoint/2010/main" val="14487039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">
            <a:extLst xmlns:a="http://schemas.openxmlformats.org/drawingml/2006/main">
              <a:ext uri="{FF2B5EF4-FFF2-40B4-BE49-F238E27FC236}">
                <a16:creationId xmlns:a16="http://schemas.microsoft.com/office/drawing/2014/main" id="{92DBB4D5-E0F4-4A18-B39A-8EEE3DAD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看图热身  Warm-up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D28ED22-996B-46DB-9D52-C1AB1FAD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9604BD71-5803-470C-A7E7-8BA29AE2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看图选词，把字母写在图片旁。</a:t>
            </a:r>
          </a:p>
        </p:txBody>
      </p:sp>
      <p:sp>
        <p:nvSpPr>
          <p:cNvPr id="6" name="warm-label-1">
            <a:extLst xmlns:a="http://schemas.openxmlformats.org/drawingml/2006/main">
              <a:ext uri="{FF2B5EF4-FFF2-40B4-BE49-F238E27FC236}">
                <a16:creationId xmlns:a16="http://schemas.microsoft.com/office/drawing/2014/main" id="{CC4C5664-E04E-4073-B012-DDFA48B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warm-blank-1">
            <a:extLst xmlns:a="http://schemas.openxmlformats.org/drawingml/2006/main">
              <a:ext uri="{FF2B5EF4-FFF2-40B4-BE49-F238E27FC236}">
                <a16:creationId xmlns:a16="http://schemas.microsoft.com/office/drawing/2014/main" id="{4538CD3C-A314-4A89-8E13-E4E6C86E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9" name="warm-label-2">
            <a:extLst xmlns:a="http://schemas.openxmlformats.org/drawingml/2006/main">
              <a:ext uri="{FF2B5EF4-FFF2-40B4-BE49-F238E27FC236}">
                <a16:creationId xmlns:a16="http://schemas.microsoft.com/office/drawing/2014/main" id="{8B6C5677-CB1D-4411-935C-E7CAD37A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warm-blank-2">
            <a:extLst xmlns:a="http://schemas.openxmlformats.org/drawingml/2006/main">
              <a:ext uri="{FF2B5EF4-FFF2-40B4-BE49-F238E27FC236}">
                <a16:creationId xmlns:a16="http://schemas.microsoft.com/office/drawing/2014/main" id="{62E1CFB2-ABC8-425D-8FD3-5BADAF35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2" name="warm-label-3">
            <a:extLst xmlns:a="http://schemas.openxmlformats.org/drawingml/2006/main">
              <a:ext uri="{FF2B5EF4-FFF2-40B4-BE49-F238E27FC236}">
                <a16:creationId xmlns:a16="http://schemas.microsoft.com/office/drawing/2014/main" id="{890D6DFE-F889-4E23-AF05-F1BC4A9A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18288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warm-blank-3">
            <a:extLst xmlns:a="http://schemas.openxmlformats.org/drawingml/2006/main">
              <a:ext uri="{FF2B5EF4-FFF2-40B4-BE49-F238E27FC236}">
                <a16:creationId xmlns:a16="http://schemas.microsoft.com/office/drawing/2014/main" id="{B733404F-784E-458D-B609-EAA8B3A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574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5" name="warm-label-4">
            <a:extLst xmlns:a="http://schemas.openxmlformats.org/drawingml/2006/main">
              <a:ext uri="{FF2B5EF4-FFF2-40B4-BE49-F238E27FC236}">
                <a16:creationId xmlns:a16="http://schemas.microsoft.com/office/drawing/2014/main" id="{40B14FC5-C47E-4D14-91AF-2C2A33B8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4</a:t>
            </a:r>
          </a:p>
        </p:txBody>
      </p:sp>
      <p:sp>
        <p:nvSpPr>
          <p:cNvPr id="16" name="warm-blank-4">
            <a:extLst xmlns:a="http://schemas.openxmlformats.org/drawingml/2006/main">
              <a:ext uri="{FF2B5EF4-FFF2-40B4-BE49-F238E27FC236}">
                <a16:creationId xmlns:a16="http://schemas.microsoft.com/office/drawing/2014/main" id="{697A49F8-2455-4156-91C3-EFFA1D49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18" name="warm-label-5">
            <a:extLst xmlns:a="http://schemas.openxmlformats.org/drawingml/2006/main">
              <a:ext uri="{FF2B5EF4-FFF2-40B4-BE49-F238E27FC236}">
                <a16:creationId xmlns:a16="http://schemas.microsoft.com/office/drawing/2014/main" id="{34BC9E27-3B21-416E-A98F-6802F1D7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5</a:t>
            </a:r>
          </a:p>
        </p:txBody>
      </p:sp>
      <p:sp>
        <p:nvSpPr>
          <p:cNvPr id="19" name="warm-blank-5">
            <a:extLst xmlns:a="http://schemas.openxmlformats.org/drawingml/2006/main">
              <a:ext uri="{FF2B5EF4-FFF2-40B4-BE49-F238E27FC236}">
                <a16:creationId xmlns:a16="http://schemas.microsoft.com/office/drawing/2014/main" id="{D286A6C4-5EF0-46D4-84C2-8AB8C186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1" name="warm-label-6">
            <a:extLst xmlns:a="http://schemas.openxmlformats.org/drawingml/2006/main">
              <a:ext uri="{FF2B5EF4-FFF2-40B4-BE49-F238E27FC236}">
                <a16:creationId xmlns:a16="http://schemas.microsoft.com/office/drawing/2014/main" id="{562A7C83-5B5C-460C-AE6F-BBB1AD6E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67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6</a:t>
            </a:r>
          </a:p>
        </p:txBody>
      </p:sp>
      <p:sp>
        <p:nvSpPr>
          <p:cNvPr id="22" name="warm-blank-6">
            <a:extLst xmlns:a="http://schemas.openxmlformats.org/drawingml/2006/main">
              <a:ext uri="{FF2B5EF4-FFF2-40B4-BE49-F238E27FC236}">
                <a16:creationId xmlns:a16="http://schemas.microsoft.com/office/drawing/2014/main" id="{74B1C8A0-C408-4027-98FB-A05C4C39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95825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71717"/>
                </a:solidFill>
              </a:defRPr>
            </a:pPr>
            <a:r>
              <a:rPr sz="1725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_______</a:t>
            </a:r>
          </a:p>
        </p:txBody>
      </p:sp>
      <p:sp>
        <p:nvSpPr>
          <p:cNvPr id="23" name="warm-wordbank">
            <a:extLst xmlns:a="http://schemas.openxmlformats.org/drawingml/2006/main">
              <a:ext uri="{FF2B5EF4-FFF2-40B4-BE49-F238E27FC236}">
                <a16:creationId xmlns:a16="http://schemas.microsoft.com/office/drawing/2014/main" id="{6BC1B801-8483-4833-AF8E-A61E609F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76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词语：A 衣服　B 便宜　C 苹果　D 穿　E 杯子　F 商店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8EE9267-BDFD-4CA1-BBE2-B65169B5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ge-mark">
            <a:extLst xmlns:a="http://schemas.openxmlformats.org/drawingml/2006/main">
              <a:ext uri="{FF2B5EF4-FFF2-40B4-BE49-F238E27FC236}">
                <a16:creationId xmlns:a16="http://schemas.microsoft.com/office/drawing/2014/main" id="{94F19BF5-7EFB-43F4-ABB9-13F0E0F2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02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ee2ab10dc4a2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44366d8da642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84485a17747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1676400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2be65ac24e4b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ca643308847a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3914775"/>
            <a:ext cx="2047875" cy="14287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4a211119548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2950" y="3914775"/>
            <a:ext cx="2047875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bēizi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杯子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cup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shòuhuòyuán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售货员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shop assistant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zhèbian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这边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this side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qián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钱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money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读一读：杯子｜售货员｜这边｜钱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03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c438b3c0144bd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杯子在哪儿：________________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这些杯子多少钱一个：________________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王一雪买哪个：________________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04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9144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Qǐngwèn, yǒu bēizi ma?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3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请问，有杯子吗？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908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售货员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14600"/>
            <a:ext cx="11049000" cy="9144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908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Yǒu, bēizi zài zhèbian.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861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有，杯子在这边。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43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67100"/>
            <a:ext cx="11049000" cy="9144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43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Duōshao qián yí ge?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38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多少钱一个？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958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售货员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19600"/>
            <a:ext cx="11049000" cy="9144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958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Zhèxiē wǔ kuài qián yí ge, nàxiē shí kuài qián yí ge.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911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这些五块钱一个，那些十块钱一个。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4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72100"/>
            <a:ext cx="11049000" cy="9144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4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mǎi zhège ba.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我买这个吧。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05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f93fc5db643ee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zhèxiē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这些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these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kuài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块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yuan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nàxiē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那些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those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读一读：这些｜块｜那些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06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565d96cded4eab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7254B29E-83B8-44BC-B3C4-ECE6572D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钱数的表达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A0E82A7-9DCA-49D1-AA7C-978F173D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B8453EE-E656-463E-8557-757962BC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观察三组句子，说出共同规则。</a:t>
            </a:r>
          </a:p>
        </p:txBody>
      </p:sp>
      <p:sp>
        <p:nvSpPr>
          <p:cNvPr id="5" name="subject-label">
            <a:extLst xmlns:a="http://schemas.openxmlformats.org/drawingml/2006/main">
              <a:ext uri="{FF2B5EF4-FFF2-40B4-BE49-F238E27FC236}">
                <a16:creationId xmlns:a16="http://schemas.microsoft.com/office/drawing/2014/main" id="{E1A3CE3E-98C4-4E8B-9137-E742B42B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193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形式</a:t>
            </a:r>
          </a:p>
        </p:txBody>
      </p:sp>
      <p:sp>
        <p:nvSpPr>
          <p:cNvPr id="6" name="predicate-label">
            <a:extLst xmlns:a="http://schemas.openxmlformats.org/drawingml/2006/main">
              <a:ext uri="{FF2B5EF4-FFF2-40B4-BE49-F238E27FC236}">
                <a16:creationId xmlns:a16="http://schemas.microsoft.com/office/drawing/2014/main" id="{FDC7EF2A-BCB9-426B-A53D-F60520A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193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例句</a:t>
            </a:r>
          </a:p>
        </p:txBody>
      </p:sp>
      <p:sp>
        <p:nvSpPr>
          <p:cNvPr id="7" name="sub-0">
            <a:extLst xmlns:a="http://schemas.openxmlformats.org/drawingml/2006/main">
              <a:ext uri="{FF2B5EF4-FFF2-40B4-BE49-F238E27FC236}">
                <a16:creationId xmlns:a16="http://schemas.microsoft.com/office/drawing/2014/main" id="{84A33E1C-1229-4C42-9E01-73435456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908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元／块</a:t>
            </a:r>
          </a:p>
        </p:txBody>
      </p:sp>
      <p:sp>
        <p:nvSpPr>
          <p:cNvPr id="8" name="arrow-530-251">
            <a:extLst xmlns:a="http://schemas.openxmlformats.org/drawingml/2006/main">
              <a:ext uri="{FF2B5EF4-FFF2-40B4-BE49-F238E27FC236}">
                <a16:creationId xmlns:a16="http://schemas.microsoft.com/office/drawing/2014/main" id="{7BB05CDD-1752-4C09-9A55-B39950BA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574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red-0">
            <a:extLst xmlns:a="http://schemas.openxmlformats.org/drawingml/2006/main">
              <a:ext uri="{FF2B5EF4-FFF2-40B4-BE49-F238E27FC236}">
                <a16:creationId xmlns:a16="http://schemas.microsoft.com/office/drawing/2014/main" id="{E49BE655-EA30-4339-BCDF-5D8CBC29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908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五块钱</a:t>
            </a:r>
          </a:p>
        </p:txBody>
      </p:sp>
      <p:sp>
        <p:nvSpPr>
          <p:cNvPr id="10" name="sub-1">
            <a:extLst xmlns:a="http://schemas.openxmlformats.org/drawingml/2006/main">
              <a:ext uri="{FF2B5EF4-FFF2-40B4-BE49-F238E27FC236}">
                <a16:creationId xmlns:a16="http://schemas.microsoft.com/office/drawing/2014/main" id="{DAAFDE11-861F-4215-AEF7-7AA2D8C6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671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角／毛</a:t>
            </a:r>
          </a:p>
        </p:txBody>
      </p:sp>
      <p:sp>
        <p:nvSpPr>
          <p:cNvPr id="11" name="arrow-530-343">
            <a:extLst xmlns:a="http://schemas.openxmlformats.org/drawingml/2006/main">
              <a:ext uri="{FF2B5EF4-FFF2-40B4-BE49-F238E27FC236}">
                <a16:creationId xmlns:a16="http://schemas.microsoft.com/office/drawing/2014/main" id="{A07B9085-F539-40DA-BBE2-7E0D358A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337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red-1">
            <a:extLst xmlns:a="http://schemas.openxmlformats.org/drawingml/2006/main">
              <a:ext uri="{FF2B5EF4-FFF2-40B4-BE49-F238E27FC236}">
                <a16:creationId xmlns:a16="http://schemas.microsoft.com/office/drawing/2014/main" id="{B631F6ED-3945-4C91-AB11-74D0FB90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671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三块五</a:t>
            </a:r>
          </a:p>
        </p:txBody>
      </p:sp>
      <p:sp>
        <p:nvSpPr>
          <p:cNvPr id="13" name="sub-2">
            <a:extLst xmlns:a="http://schemas.openxmlformats.org/drawingml/2006/main">
              <a:ext uri="{FF2B5EF4-FFF2-40B4-BE49-F238E27FC236}">
                <a16:creationId xmlns:a16="http://schemas.microsoft.com/office/drawing/2014/main" id="{D0FE9B3D-D8DF-465A-B116-3084D997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3143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零 + 分</a:t>
            </a:r>
          </a:p>
        </p:txBody>
      </p:sp>
      <p:sp>
        <p:nvSpPr>
          <p:cNvPr id="14" name="arrow-530-435">
            <a:extLst xmlns:a="http://schemas.openxmlformats.org/drawingml/2006/main">
              <a:ext uri="{FF2B5EF4-FFF2-40B4-BE49-F238E27FC236}">
                <a16:creationId xmlns:a16="http://schemas.microsoft.com/office/drawing/2014/main" id="{B77AA3FA-5461-496E-8962-5545FC9F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10075"/>
            <a:ext cx="52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pred-2">
            <a:extLst xmlns:a="http://schemas.openxmlformats.org/drawingml/2006/main">
              <a:ext uri="{FF2B5EF4-FFF2-40B4-BE49-F238E27FC236}">
                <a16:creationId xmlns:a16="http://schemas.microsoft.com/office/drawing/2014/main" id="{B8319BAB-0044-4C82-BA44-4FD3A2C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43400"/>
            <a:ext cx="4286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六块零两分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2EE6D98-B9A1-4161-98CC-48F1EEB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ge-mark">
            <a:extLst xmlns:a="http://schemas.openxmlformats.org/drawingml/2006/main">
              <a:ext uri="{FF2B5EF4-FFF2-40B4-BE49-F238E27FC236}">
                <a16:creationId xmlns:a16="http://schemas.microsoft.com/office/drawing/2014/main" id="{4629DC9A-F6C8-423C-990B-1967DF69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07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这个杯子多少钱？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6.02元怎么说？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202.2元怎么说？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08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fbcebde4e47e5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a244b491247ba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02ccdb27c44ef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两人交换信息，记录一条真实结果。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请问，________多少钱？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________块／元。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记录：记录商品和价格。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09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课文1｜出口条 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杯子在哪儿？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这些杯子多少钱一个？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王一雪买哪个？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本课关键词：多少钱｜人民币｜形容词谓语句｜怎么样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10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快速复习  Retrieval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合上课本，回答三个复习问题。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课文一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286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课文一发生在哪儿？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用了哪个重点句型？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说出一条关键信息。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说场景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说句型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说信息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11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zhèr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这儿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here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shuǐguǒ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水果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fruit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shǎo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少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few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读一读：这儿｜水果｜少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12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baeaeadd064fa7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这儿的水果（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很少　B 真不少　C 真不多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苹果（　）一斤。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三块　B 三块五　C 七块二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两斤多少钱：________________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13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核对人物和顺序，再交换角色朗读。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8953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Zhèr de shuǐguǒ zhēn bù shǎo!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145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这儿的水果真不少！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717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售货员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95550"/>
            <a:ext cx="11049000" cy="8953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717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Nín xiǎng mǎi shénme?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480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您想买什么？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052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11049000" cy="8953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052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Wǒ xiǎng mǎi liǎng jīn píngguǒ.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814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我想买两斤苹果。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386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售货员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62450"/>
            <a:ext cx="11049000" cy="9906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386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Píngguǒ sān kuài wǔ yì jīn. Zhèxiē qī kuài èr, qī kuài qián ba.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101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苹果三块五一斤。这些七块二，七块钱吧。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673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91150"/>
            <a:ext cx="11049000" cy="8953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673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de, zhèr de píngguǒ zhēn piányi!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好的，这儿的苹果真便宜！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275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05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14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9aec92f054667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jīn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斤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jin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píngguǒ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苹果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apple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piányi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便宜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affordable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5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00625"/>
            <a:ext cx="619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读一读：斤｜苹果｜便宜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15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93d9daf89f4f62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形容词谓语句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真 + 形容词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水果真不少！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不 + 形容词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我的房间不大。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形容词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那个苹果好吃。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形容词可以直接作谓语，前面可加程度副词或否定副词。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16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160CE384-D9B0-4FD2-B316-61C3E1C8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控制练习  Controlled Practice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899B3DD-A4F0-4764-94D7-087E4DE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892A9DD-8FA6-4228-9DB4-C548707D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读问题，用完整句回答。</a:t>
            </a:r>
          </a:p>
        </p:txBody>
      </p:sp>
      <p:sp>
        <p:nvSpPr>
          <p:cNvPr id="6" name="ability-q-0">
            <a:extLst xmlns:a="http://schemas.openxmlformats.org/drawingml/2006/main">
              <a:ext uri="{FF2B5EF4-FFF2-40B4-BE49-F238E27FC236}">
                <a16:creationId xmlns:a16="http://schemas.microsoft.com/office/drawing/2014/main" id="{A9515AA8-A41A-4800-B506-7050FBF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这件衣服怎么样？</a:t>
            </a:r>
          </a:p>
        </p:txBody>
      </p:sp>
      <p:sp>
        <p:nvSpPr>
          <p:cNvPr id="7" name="ability-a-0">
            <a:extLst xmlns:a="http://schemas.openxmlformats.org/drawingml/2006/main">
              <a:ext uri="{FF2B5EF4-FFF2-40B4-BE49-F238E27FC236}">
                <a16:creationId xmlns:a16="http://schemas.microsoft.com/office/drawing/2014/main" id="{4D222D1B-9BC7-45B7-8EE3-1D420519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9" name="ability-q-1">
            <a:extLst xmlns:a="http://schemas.openxmlformats.org/drawingml/2006/main">
              <a:ext uri="{FF2B5EF4-FFF2-40B4-BE49-F238E27FC236}">
                <a16:creationId xmlns:a16="http://schemas.microsoft.com/office/drawing/2014/main" id="{202B5D59-1C45-4F3F-93FA-3878EC43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苹果怎么样？</a:t>
            </a:r>
          </a:p>
        </p:txBody>
      </p:sp>
      <p:sp>
        <p:nvSpPr>
          <p:cNvPr id="10" name="ability-a-1">
            <a:extLst xmlns:a="http://schemas.openxmlformats.org/drawingml/2006/main">
              <a:ext uri="{FF2B5EF4-FFF2-40B4-BE49-F238E27FC236}">
                <a16:creationId xmlns:a16="http://schemas.microsoft.com/office/drawing/2014/main" id="{77D7D421-A402-478B-864F-27D5ED85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2" name="ability-q-2">
            <a:extLst xmlns:a="http://schemas.openxmlformats.org/drawingml/2006/main">
              <a:ext uri="{FF2B5EF4-FFF2-40B4-BE49-F238E27FC236}">
                <a16:creationId xmlns:a16="http://schemas.microsoft.com/office/drawing/2014/main" id="{EB9A93F5-AF64-4DF5-B6FE-0504EB4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1719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这个菜怎么样？</a:t>
            </a:r>
          </a:p>
        </p:txBody>
      </p:sp>
      <p:sp>
        <p:nvSpPr>
          <p:cNvPr id="13" name="ability-a-2">
            <a:extLst xmlns:a="http://schemas.openxmlformats.org/drawingml/2006/main">
              <a:ext uri="{FF2B5EF4-FFF2-40B4-BE49-F238E27FC236}">
                <a16:creationId xmlns:a16="http://schemas.microsoft.com/office/drawing/2014/main" id="{4D8375E0-19F7-48CD-85F0-EA6465E3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625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97423B"/>
                </a:solidFill>
              </a:defRPr>
            </a:pPr>
            <a:r>
              <a:rPr sz="195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答：________________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793F8D-0709-4C2F-AD3D-FF381CCB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11044A02-8DC1-4ECC-ACC8-BEEA23A2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17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5829f97bb496e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7a3404992485d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714500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fb6a05e1b4d59"/>
          <a:srcRect xmlns:a="http://schemas.openxmlformats.org/drawingml/2006/main" l="355" t="0" r="3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39125" y="1714500"/>
            <a:ext cx="3333750" cy="2238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45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813FF84F-644F-4EE9-854B-AA9116E4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真实问答  Pair Task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450EA2E3-21F3-42AC-BAC3-D194E67D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34B2C6-7F2E-4857-9170-2F13D03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两人问答并记录两项真实信息。</a:t>
            </a:r>
          </a:p>
        </p:txBody>
      </p:sp>
      <p:sp>
        <p:nvSpPr>
          <p:cNvPr id="5" name="pair-a">
            <a:extLst xmlns:a="http://schemas.openxmlformats.org/drawingml/2006/main">
              <a:ext uri="{FF2B5EF4-FFF2-40B4-BE49-F238E27FC236}">
                <a16:creationId xmlns:a16="http://schemas.microsoft.com/office/drawing/2014/main" id="{F79E9E27-2AA9-4C46-8305-4297DDF6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A问</a:t>
            </a:r>
          </a:p>
        </p:txBody>
      </p:sp>
      <p:sp>
        <p:nvSpPr>
          <p:cNvPr id="6" name="pair-ask">
            <a:extLst xmlns:a="http://schemas.openxmlformats.org/drawingml/2006/main">
              <a:ext uri="{FF2B5EF4-FFF2-40B4-BE49-F238E27FC236}">
                <a16:creationId xmlns:a16="http://schemas.microsoft.com/office/drawing/2014/main" id="{30102FD0-963B-4831-A419-B6BA696E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4476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这个／这件________多少钱？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怎么样？</a:t>
            </a:r>
          </a:p>
        </p:txBody>
      </p:sp>
      <p:sp>
        <p:nvSpPr>
          <p:cNvPr id="7" name="arrow-590-310">
            <a:extLst xmlns:a="http://schemas.openxmlformats.org/drawingml/2006/main">
              <a:ext uri="{FF2B5EF4-FFF2-40B4-BE49-F238E27FC236}">
                <a16:creationId xmlns:a16="http://schemas.microsoft.com/office/drawing/2014/main" id="{6518A0DA-2AF3-4B32-82AA-EEC562E8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76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air-b">
            <a:extLst xmlns:a="http://schemas.openxmlformats.org/drawingml/2006/main">
              <a:ext uri="{FF2B5EF4-FFF2-40B4-BE49-F238E27FC236}">
                <a16:creationId xmlns:a16="http://schemas.microsoft.com/office/drawing/2014/main" id="{3DEE1F8F-2B81-4D33-AFEF-E942656E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621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B答</a:t>
            </a:r>
          </a:p>
        </p:txBody>
      </p:sp>
      <p:sp>
        <p:nvSpPr>
          <p:cNvPr id="9" name="pair-answer">
            <a:extLst xmlns:a="http://schemas.openxmlformats.org/drawingml/2006/main">
              <a:ext uri="{FF2B5EF4-FFF2-40B4-BE49-F238E27FC236}">
                <a16:creationId xmlns:a16="http://schemas.microsoft.com/office/drawing/2014/main" id="{E4E70A4C-AB5C-40F9-8A36-73038D58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________块／元；很／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真／不太________。</a:t>
            </a:r>
          </a:p>
        </p:txBody>
      </p:sp>
      <p:sp>
        <p:nvSpPr>
          <p:cNvPr id="10" name="pair-record">
            <a:extLst xmlns:a="http://schemas.openxmlformats.org/drawingml/2006/main">
              <a:ext uri="{FF2B5EF4-FFF2-40B4-BE49-F238E27FC236}">
                <a16:creationId xmlns:a16="http://schemas.microsoft.com/office/drawing/2014/main" id="{CD52926A-8BB9-4C10-96DE-7016F52F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10125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记录：记录一个价格和一个评价。</a:t>
            </a:r>
          </a:p>
        </p:txBody>
      </p:sp>
      <p:sp>
        <p:nvSpPr>
          <p:cNvPr id="1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D956BD5-37F4-4F40-8BC3-43A68B9D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ge-mark">
            <a:extLst xmlns:a="http://schemas.openxmlformats.org/drawingml/2006/main">
              <a:ext uri="{FF2B5EF4-FFF2-40B4-BE49-F238E27FC236}">
                <a16:creationId xmlns:a16="http://schemas.microsoft.com/office/drawing/2014/main" id="{19311ACF-BA6B-4A15-8541-FD9CE73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18</a:t>
            </a:r>
          </a:p>
        </p:txBody>
      </p:sp>
    </p:spTree>
    <p:extLst>
      <p:ext uri="{BB962C8B-B14F-4D97-AF65-F5344CB8AC3E}">
        <p14:creationId xmlns:p14="http://schemas.microsoft.com/office/powerpoint/2010/main" val="174287064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1763F6FB-5BC2-44A9-AD98-58FCAC2F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信息调查  Class Survey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2872834-2EE2-4D0B-9618-E67593CB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40CCBB17-4DFC-4C4E-8F4E-CEB9A575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采访3人，记录答案，再汇报一人。</a:t>
            </a:r>
          </a:p>
        </p:txBody>
      </p:sp>
      <p:sp>
        <p:nvSpPr>
          <p:cNvPr id="5" name="survey-head-0">
            <a:extLst xmlns:a="http://schemas.openxmlformats.org/drawingml/2006/main">
              <a:ext uri="{FF2B5EF4-FFF2-40B4-BE49-F238E27FC236}">
                <a16:creationId xmlns:a16="http://schemas.microsoft.com/office/drawing/2014/main" id="{5145B36E-FBFA-4D7F-86C8-2B4C04D6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7165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1717"/>
                </a:solidFill>
              </a:defRPr>
            </a:pPr>
            <a:r>
              <a:rPr sz="21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商品</a:t>
            </a:r>
          </a:p>
        </p:txBody>
      </p:sp>
      <p:sp>
        <p:nvSpPr>
          <p:cNvPr id="6" name="survey-head-1">
            <a:extLst xmlns:a="http://schemas.openxmlformats.org/drawingml/2006/main">
              <a:ext uri="{FF2B5EF4-FFF2-40B4-BE49-F238E27FC236}">
                <a16:creationId xmlns:a16="http://schemas.microsoft.com/office/drawing/2014/main" id="{183EC083-68CE-47E7-A015-D8A128E1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价格</a:t>
            </a:r>
          </a:p>
        </p:txBody>
      </p:sp>
      <p:sp>
        <p:nvSpPr>
          <p:cNvPr id="7" name="survey-head-2">
            <a:extLst xmlns:a="http://schemas.openxmlformats.org/drawingml/2006/main">
              <a:ext uri="{FF2B5EF4-FFF2-40B4-BE49-F238E27FC236}">
                <a16:creationId xmlns:a16="http://schemas.microsoft.com/office/drawing/2014/main" id="{0184456F-AE56-49F9-8AAF-3F79669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怎么样</a:t>
            </a:r>
          </a:p>
        </p:txBody>
      </p:sp>
      <p:sp>
        <p:nvSpPr>
          <p:cNvPr id="8" name="survey-head-3">
            <a:extLst xmlns:a="http://schemas.openxmlformats.org/drawingml/2006/main">
              <a:ext uri="{FF2B5EF4-FFF2-40B4-BE49-F238E27FC236}">
                <a16:creationId xmlns:a16="http://schemas.microsoft.com/office/drawing/2014/main" id="{81BC3158-CA45-47B6-9391-A7D4D962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71650"/>
            <a:ext cx="2381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买不买</a:t>
            </a:r>
          </a:p>
        </p:txBody>
      </p:sp>
      <p:sp>
        <p:nvSpPr>
          <p:cNvPr id="9" name="survey-0-0">
            <a:extLst xmlns:a="http://schemas.openxmlformats.org/drawingml/2006/main">
              <a:ext uri="{FF2B5EF4-FFF2-40B4-BE49-F238E27FC236}">
                <a16:creationId xmlns:a16="http://schemas.microsoft.com/office/drawing/2014/main" id="{B9E62284-3905-4789-B011-7C14E597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6220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1. __________</a:t>
            </a:r>
          </a:p>
        </p:txBody>
      </p:sp>
      <p:sp>
        <p:nvSpPr>
          <p:cNvPr id="10" name="survey-0-1">
            <a:extLst xmlns:a="http://schemas.openxmlformats.org/drawingml/2006/main">
              <a:ext uri="{FF2B5EF4-FFF2-40B4-BE49-F238E27FC236}">
                <a16:creationId xmlns:a16="http://schemas.microsoft.com/office/drawing/2014/main" id="{E14E63F0-DF19-444A-9295-858C77E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1" name="survey-0-2">
            <a:extLst xmlns:a="http://schemas.openxmlformats.org/drawingml/2006/main">
              <a:ext uri="{FF2B5EF4-FFF2-40B4-BE49-F238E27FC236}">
                <a16:creationId xmlns:a16="http://schemas.microsoft.com/office/drawing/2014/main" id="{1787C582-1DF6-4506-8FB4-5664EBD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2" name="survey-0-3">
            <a:extLst xmlns:a="http://schemas.openxmlformats.org/drawingml/2006/main">
              <a:ext uri="{FF2B5EF4-FFF2-40B4-BE49-F238E27FC236}">
                <a16:creationId xmlns:a16="http://schemas.microsoft.com/office/drawing/2014/main" id="{4951FEC6-A9A6-49EB-9C38-C779818F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6220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3" name="survey-1-0">
            <a:extLst xmlns:a="http://schemas.openxmlformats.org/drawingml/2006/main">
              <a:ext uri="{FF2B5EF4-FFF2-40B4-BE49-F238E27FC236}">
                <a16:creationId xmlns:a16="http://schemas.microsoft.com/office/drawing/2014/main" id="{89D8F88F-0E00-4D5F-A10F-6F266762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71825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2. __________</a:t>
            </a:r>
          </a:p>
        </p:txBody>
      </p:sp>
      <p:sp>
        <p:nvSpPr>
          <p:cNvPr id="14" name="survey-1-1">
            <a:extLst xmlns:a="http://schemas.openxmlformats.org/drawingml/2006/main">
              <a:ext uri="{FF2B5EF4-FFF2-40B4-BE49-F238E27FC236}">
                <a16:creationId xmlns:a16="http://schemas.microsoft.com/office/drawing/2014/main" id="{25F73E1F-76E3-4D79-B03D-29603258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5" name="survey-1-2">
            <a:extLst xmlns:a="http://schemas.openxmlformats.org/drawingml/2006/main">
              <a:ext uri="{FF2B5EF4-FFF2-40B4-BE49-F238E27FC236}">
                <a16:creationId xmlns:a16="http://schemas.microsoft.com/office/drawing/2014/main" id="{B317FAED-677C-4EDC-8593-AA5407B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6" name="survey-1-3">
            <a:extLst xmlns:a="http://schemas.openxmlformats.org/drawingml/2006/main">
              <a:ext uri="{FF2B5EF4-FFF2-40B4-BE49-F238E27FC236}">
                <a16:creationId xmlns:a16="http://schemas.microsoft.com/office/drawing/2014/main" id="{2B2E2061-4DAC-4E99-8BDA-D7CD9D8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71825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7" name="survey-2-0">
            <a:extLst xmlns:a="http://schemas.openxmlformats.org/drawingml/2006/main">
              <a:ext uri="{FF2B5EF4-FFF2-40B4-BE49-F238E27FC236}">
                <a16:creationId xmlns:a16="http://schemas.microsoft.com/office/drawing/2014/main" id="{FBAE2215-F0A1-459E-A7C0-EC3CC6BA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9814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3. __________</a:t>
            </a:r>
          </a:p>
        </p:txBody>
      </p:sp>
      <p:sp>
        <p:nvSpPr>
          <p:cNvPr id="18" name="survey-2-1">
            <a:extLst xmlns:a="http://schemas.openxmlformats.org/drawingml/2006/main">
              <a:ext uri="{FF2B5EF4-FFF2-40B4-BE49-F238E27FC236}">
                <a16:creationId xmlns:a16="http://schemas.microsoft.com/office/drawing/2014/main" id="{888E5D51-1F6E-42F4-A923-F4D1C47B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19" name="survey-2-2">
            <a:extLst xmlns:a="http://schemas.openxmlformats.org/drawingml/2006/main">
              <a:ext uri="{FF2B5EF4-FFF2-40B4-BE49-F238E27FC236}">
                <a16:creationId xmlns:a16="http://schemas.microsoft.com/office/drawing/2014/main" id="{FC02A57B-D22B-4553-BBB8-5CF9BE4F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0" name="survey-2-3">
            <a:extLst xmlns:a="http://schemas.openxmlformats.org/drawingml/2006/main">
              <a:ext uri="{FF2B5EF4-FFF2-40B4-BE49-F238E27FC236}">
                <a16:creationId xmlns:a16="http://schemas.microsoft.com/office/drawing/2014/main" id="{8E47A208-6D9E-4987-AF6C-F17F5DD0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814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CDBFB5"/>
            </a:solidFill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________________</a:t>
            </a:r>
          </a:p>
        </p:txBody>
      </p:sp>
      <p:sp>
        <p:nvSpPr>
          <p:cNvPr id="21" name="survey-report">
            <a:extLst xmlns:a="http://schemas.openxmlformats.org/drawingml/2006/main">
              <a:ext uri="{FF2B5EF4-FFF2-40B4-BE49-F238E27FC236}">
                <a16:creationId xmlns:a16="http://schemas.microsoft.com/office/drawing/2014/main" id="{FB8E3E5D-4E49-418F-9FB5-AAB7F018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054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汇报：________是________块，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________，我买／不买。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77B2B5A-D4A4-4557-A63D-AF3DF4F9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ge-mark">
            <a:extLst xmlns:a="http://schemas.openxmlformats.org/drawingml/2006/main">
              <a:ext uri="{FF2B5EF4-FFF2-40B4-BE49-F238E27FC236}">
                <a16:creationId xmlns:a16="http://schemas.microsoft.com/office/drawing/2014/main" id="{535440BC-FF8D-48C0-B098-79C95561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19</a:t>
            </a:r>
          </a:p>
        </p:txBody>
      </p:sp>
    </p:spTree>
    <p:extLst>
      <p:ext uri="{BB962C8B-B14F-4D97-AF65-F5344CB8AC3E}">
        <p14:creationId xmlns:p14="http://schemas.microsoft.com/office/powerpoint/2010/main" val="20577003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3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课文2｜出口条 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独立完成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这儿的水果（　）。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A 很少　B 真不少　C 真不多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水果真不少怎么说？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用本课句型说一条真实信息。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本课关键词：多少钱｜人民币｜形容词谓语句｜怎么样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20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6B4FD011-E97B-4744-A0BA-080F316C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快速复习  Retrieval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0A3A7110-FDA4-4F7A-888E-BA23A6B2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E5AECF-AE06-4688-A9CA-6B8D3102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说出两个旧句，再预测课文三。</a:t>
            </a:r>
          </a:p>
        </p:txBody>
      </p:sp>
      <p:sp>
        <p:nvSpPr>
          <p:cNvPr id="5" name="timer">
            <a:extLst xmlns:a="http://schemas.openxmlformats.org/drawingml/2006/main">
              <a:ext uri="{FF2B5EF4-FFF2-40B4-BE49-F238E27FC236}">
                <a16:creationId xmlns:a16="http://schemas.microsoft.com/office/drawing/2014/main" id="{5A43DAD7-E6F4-4C46-BDE9-171146AC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课文一、二</a:t>
            </a:r>
          </a:p>
        </p:txBody>
      </p:sp>
      <p:sp>
        <p:nvSpPr>
          <p:cNvPr id="6" name="retrieval-date">
            <a:extLst xmlns:a="http://schemas.openxmlformats.org/drawingml/2006/main">
              <a:ext uri="{FF2B5EF4-FFF2-40B4-BE49-F238E27FC236}">
                <a16:creationId xmlns:a16="http://schemas.microsoft.com/office/drawing/2014/main" id="{A32AFDD7-D53C-4FBB-A2E1-93953B03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4286250" cy="1905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用语言点一说一句。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用语言点二说一句。</a:t>
            </a:r>
          </a:p>
          <a:p xmlns:a="http://schemas.openxmlformats.org/drawingml/2006/main">
            <a:pPr algn="ctr">
              <a:buNone/>
              <a:defRPr sz="30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预测课文三的场景。</a:t>
            </a:r>
          </a:p>
        </p:txBody>
      </p:sp>
      <p:sp>
        <p:nvSpPr>
          <p:cNvPr id="7" name="arrow-790-250">
            <a:extLst xmlns:a="http://schemas.openxmlformats.org/drawingml/2006/main">
              <a:ext uri="{FF2B5EF4-FFF2-40B4-BE49-F238E27FC236}">
                <a16:creationId xmlns:a16="http://schemas.microsoft.com/office/drawing/2014/main" id="{36FE6F53-43B1-428F-9E14-D2EE5619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05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oday-goal">
            <a:extLst xmlns:a="http://schemas.openxmlformats.org/drawingml/2006/main">
              <a:ext uri="{FF2B5EF4-FFF2-40B4-BE49-F238E27FC236}">
                <a16:creationId xmlns:a16="http://schemas.microsoft.com/office/drawing/2014/main" id="{716551AD-DB1B-424D-BAA0-87EDCEC5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143250" cy="2000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复现两句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预测课文三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EB9D10-A36A-4CE9-B842-7C3C9609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ge-mark">
            <a:extLst xmlns:a="http://schemas.openxmlformats.org/drawingml/2006/main">
              <a:ext uri="{FF2B5EF4-FFF2-40B4-BE49-F238E27FC236}">
                <a16:creationId xmlns:a16="http://schemas.microsoft.com/office/drawing/2014/main" id="{986FA3B9-03AC-42CF-A505-F667ECC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21</a:t>
            </a:r>
          </a:p>
        </p:txBody>
      </p:sp>
    </p:spTree>
    <p:extLst>
      <p:ext uri="{BB962C8B-B14F-4D97-AF65-F5344CB8AC3E}">
        <p14:creationId xmlns:p14="http://schemas.microsoft.com/office/powerpoint/2010/main" val="8241080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shāngdiàn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商店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shop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yīfu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衣服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clothes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jiàn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件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piece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yuán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元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yuan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补充词：怎么样 zěnmeyàng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22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298b551b3415b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8B6F7BD-4BF9-4E54-9C76-8D2FBCFE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课文3｜听力  Listening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D3B1C867-E2BC-4286-93C4-C7D689BB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73130D08-AA09-4768-813F-CBB9650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听两遍，记录三项关键信息。</a:t>
            </a:r>
          </a:p>
        </p:txBody>
      </p:sp>
      <p:sp>
        <p:nvSpPr>
          <p:cNvPr id="6" name="q-1">
            <a:extLst xmlns:a="http://schemas.openxmlformats.org/drawingml/2006/main">
              <a:ext uri="{FF2B5EF4-FFF2-40B4-BE49-F238E27FC236}">
                <a16:creationId xmlns:a16="http://schemas.microsoft.com/office/drawing/2014/main" id="{99972B66-DE69-437D-AA3B-13CAD8C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7" name="listen-lab-0">
            <a:extLst xmlns:a="http://schemas.openxmlformats.org/drawingml/2006/main">
              <a:ext uri="{FF2B5EF4-FFF2-40B4-BE49-F238E27FC236}">
                <a16:creationId xmlns:a16="http://schemas.microsoft.com/office/drawing/2014/main" id="{EEB8A135-05E0-4931-95B8-8311CBC8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8" name="listen-blank-0">
            <a:extLst xmlns:a="http://schemas.openxmlformats.org/drawingml/2006/main">
              <a:ext uri="{FF2B5EF4-FFF2-40B4-BE49-F238E27FC236}">
                <a16:creationId xmlns:a16="http://schemas.microsoft.com/office/drawing/2014/main" id="{83B64007-34DD-4F6A-A947-C1660DAF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这件衣服（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二十元　B 一百元　C 一百一十元</a:t>
            </a:r>
          </a:p>
        </p:txBody>
      </p:sp>
      <p:sp>
        <p:nvSpPr>
          <p:cNvPr id="9" name="q-2">
            <a:extLst xmlns:a="http://schemas.openxmlformats.org/drawingml/2006/main">
              <a:ext uri="{FF2B5EF4-FFF2-40B4-BE49-F238E27FC236}">
                <a16:creationId xmlns:a16="http://schemas.microsoft.com/office/drawing/2014/main" id="{5DD99B0D-8B11-4DA3-B063-33AA5125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10" name="listen-lab-1">
            <a:extLst xmlns:a="http://schemas.openxmlformats.org/drawingml/2006/main">
              <a:ext uri="{FF2B5EF4-FFF2-40B4-BE49-F238E27FC236}">
                <a16:creationId xmlns:a16="http://schemas.microsoft.com/office/drawing/2014/main" id="{04C8AEF8-B148-460C-A5B8-DEF3E9B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956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选择题</a:t>
            </a:r>
          </a:p>
        </p:txBody>
      </p:sp>
      <p:sp>
        <p:nvSpPr>
          <p:cNvPr id="11" name="listen-blank-1">
            <a:extLst xmlns:a="http://schemas.openxmlformats.org/drawingml/2006/main">
              <a:ext uri="{FF2B5EF4-FFF2-40B4-BE49-F238E27FC236}">
                <a16:creationId xmlns:a16="http://schemas.microsoft.com/office/drawing/2014/main" id="{000BB091-3D65-46B5-86A1-60EE2ECF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这件衣服（　）。</a:t>
            </a:r>
          </a:p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A 太贵　B 很贵　C 不贵</a:t>
            </a:r>
          </a:p>
        </p:txBody>
      </p:sp>
      <p:sp>
        <p:nvSpPr>
          <p:cNvPr id="12" name="q-3">
            <a:extLst xmlns:a="http://schemas.openxmlformats.org/drawingml/2006/main">
              <a:ext uri="{FF2B5EF4-FFF2-40B4-BE49-F238E27FC236}">
                <a16:creationId xmlns:a16="http://schemas.microsoft.com/office/drawing/2014/main" id="{CD8D9591-C2D3-429C-B06D-818ED4AF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3" name="listen-lab-2">
            <a:extLst xmlns:a="http://schemas.openxmlformats.org/drawingml/2006/main">
              <a:ext uri="{FF2B5EF4-FFF2-40B4-BE49-F238E27FC236}">
                <a16:creationId xmlns:a16="http://schemas.microsoft.com/office/drawing/2014/main" id="{B755454D-3A39-41DA-B54B-A170293E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104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97423B"/>
                </a:solidFill>
              </a:defRPr>
            </a:pPr>
            <a:r>
              <a:rPr sz="16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证据题</a:t>
            </a:r>
          </a:p>
        </p:txBody>
      </p:sp>
      <p:sp>
        <p:nvSpPr>
          <p:cNvPr id="14" name="listen-blank-2">
            <a:extLst xmlns:a="http://schemas.openxmlformats.org/drawingml/2006/main">
              <a:ext uri="{FF2B5EF4-FFF2-40B4-BE49-F238E27FC236}">
                <a16:creationId xmlns:a16="http://schemas.microsoft.com/office/drawing/2014/main" id="{97687084-6DE6-41A9-BCDF-68B794BD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76725"/>
            <a:ext cx="8096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32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小明能穿吗：________________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0B8F72-8165-49D0-8C58-12AA26C2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F7FC889B-15B6-4D76-A4A4-3A27659C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23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itle">
            <a:extLst xmlns:a="http://schemas.openxmlformats.org/drawingml/2006/main">
              <a:ext uri="{FF2B5EF4-FFF2-40B4-BE49-F238E27FC236}">
                <a16:creationId xmlns:a16="http://schemas.microsoft.com/office/drawing/2014/main" id="{2E9BF3EF-1D0E-4F5F-BEB9-56993BF9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课文3｜跟读  Read Aloud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35BFF9A1-6272-458D-BA5E-0DFEB448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F9F1A427-54BC-44A9-8F50-AF988E18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核对人物和顺序，再分角色朗读。</a:t>
            </a:r>
          </a:p>
        </p:txBody>
      </p:sp>
      <p:sp>
        <p:nvSpPr>
          <p:cNvPr id="5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02CF3C09-A00F-4342-A7C7-F243ED85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3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6" name="bubble-174">
            <a:extLst xmlns:a="http://schemas.openxmlformats.org/drawingml/2006/main">
              <a:ext uri="{FF2B5EF4-FFF2-40B4-BE49-F238E27FC236}">
                <a16:creationId xmlns:a16="http://schemas.microsoft.com/office/drawing/2014/main" id="{D37C5BF0-8D57-49BA-A72B-04CC1A7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11049000" cy="819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7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5BE1EAA0-6FF9-4E7E-8E4B-BBAC51E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383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Zhè jiā shāngdiàn yīfu zhēn duō! Zhè jiàn yìbǎi yuán, zěnmeyàng?</a:t>
            </a:r>
          </a:p>
        </p:txBody>
      </p:sp>
      <p:sp>
        <p:nvSpPr>
          <p:cNvPr id="8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FFA49D70-EBD5-46E1-9454-4CD1E965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383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这家商店衣服真多！这件一百元，怎么样？</a:t>
            </a:r>
          </a:p>
        </p:txBody>
      </p:sp>
      <p:sp>
        <p:nvSpPr>
          <p:cNvPr id="9" name="bubble-speaker-174">
            <a:extLst xmlns:a="http://schemas.openxmlformats.org/drawingml/2006/main">
              <a:ext uri="{FF2B5EF4-FFF2-40B4-BE49-F238E27FC236}">
                <a16:creationId xmlns:a16="http://schemas.microsoft.com/office/drawing/2014/main" id="{CDA22127-7BE4-4519-B8E0-B526B74F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95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10" name="bubble-174">
            <a:extLst xmlns:a="http://schemas.openxmlformats.org/drawingml/2006/main">
              <a:ext uri="{FF2B5EF4-FFF2-40B4-BE49-F238E27FC236}">
                <a16:creationId xmlns:a16="http://schemas.microsoft.com/office/drawing/2014/main" id="{8FA1A1D3-E42B-4E93-9360-F15E9CD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19350"/>
            <a:ext cx="11049000" cy="7239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1" name="bubble-pinyin-174">
            <a:extLst xmlns:a="http://schemas.openxmlformats.org/drawingml/2006/main">
              <a:ext uri="{FF2B5EF4-FFF2-40B4-BE49-F238E27FC236}">
                <a16:creationId xmlns:a16="http://schemas.microsoft.com/office/drawing/2014/main" id="{6B0189EE-EF03-4812-A7BB-28A99E28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955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Hǎokàn, yě bú guì.</a:t>
            </a:r>
          </a:p>
        </p:txBody>
      </p:sp>
      <p:sp>
        <p:nvSpPr>
          <p:cNvPr id="12" name="bubble-hanzi-174">
            <a:extLst xmlns:a="http://schemas.openxmlformats.org/drawingml/2006/main">
              <a:ext uri="{FF2B5EF4-FFF2-40B4-BE49-F238E27FC236}">
                <a16:creationId xmlns:a16="http://schemas.microsoft.com/office/drawing/2014/main" id="{692D751B-D5F5-467C-A45B-727FA5C7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003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好看，也不贵。</a:t>
            </a:r>
          </a:p>
        </p:txBody>
      </p:sp>
      <p:sp>
        <p:nvSpPr>
          <p:cNvPr id="13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DD4F27E1-89F8-4A24-B422-473B7A72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57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14" name="bubble-319">
            <a:extLst xmlns:a="http://schemas.openxmlformats.org/drawingml/2006/main">
              <a:ext uri="{FF2B5EF4-FFF2-40B4-BE49-F238E27FC236}">
                <a16:creationId xmlns:a16="http://schemas.microsoft.com/office/drawing/2014/main" id="{368924A9-9822-42CF-B585-0AA022C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81350"/>
            <a:ext cx="11049000" cy="7239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15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35EA61A-944B-4B6E-8EBB-60E915A5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575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Xiǎoxuě néng chuān, mǎi yí jiàn ba.</a:t>
            </a:r>
          </a:p>
        </p:txBody>
      </p:sp>
      <p:sp>
        <p:nvSpPr>
          <p:cNvPr id="16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B907DA1-21D9-479A-8EAC-CDEB59C0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623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小雪能穿，买一件吧。</a:t>
            </a:r>
          </a:p>
        </p:txBody>
      </p:sp>
      <p:sp>
        <p:nvSpPr>
          <p:cNvPr id="17" name="bubble-speaker-319">
            <a:extLst xmlns:a="http://schemas.openxmlformats.org/drawingml/2006/main">
              <a:ext uri="{FF2B5EF4-FFF2-40B4-BE49-F238E27FC236}">
                <a16:creationId xmlns:a16="http://schemas.microsoft.com/office/drawing/2014/main" id="{1132648B-B790-48C7-A85A-DCAA06CF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9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18" name="bubble-319">
            <a:extLst xmlns:a="http://schemas.openxmlformats.org/drawingml/2006/main">
              <a:ext uri="{FF2B5EF4-FFF2-40B4-BE49-F238E27FC236}">
                <a16:creationId xmlns:a16="http://schemas.microsoft.com/office/drawing/2014/main" id="{256E3685-1A49-41E6-9277-70CD0FA2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049000" cy="7239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19" name="bubble-pinyin-319">
            <a:extLst xmlns:a="http://schemas.openxmlformats.org/drawingml/2006/main">
              <a:ext uri="{FF2B5EF4-FFF2-40B4-BE49-F238E27FC236}">
                <a16:creationId xmlns:a16="http://schemas.microsoft.com/office/drawing/2014/main" id="{590ED512-C999-4EE8-960F-2DA3AF09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195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de. Xiǎomíng néng chuān ma?</a:t>
            </a:r>
          </a:p>
        </p:txBody>
      </p:sp>
      <p:sp>
        <p:nvSpPr>
          <p:cNvPr id="20" name="bubble-hanzi-319">
            <a:extLst xmlns:a="http://schemas.openxmlformats.org/drawingml/2006/main">
              <a:ext uri="{FF2B5EF4-FFF2-40B4-BE49-F238E27FC236}">
                <a16:creationId xmlns:a16="http://schemas.microsoft.com/office/drawing/2014/main" id="{4850A026-8D17-4C50-A024-5172FE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32435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好的。小明能穿吗？</a:t>
            </a:r>
          </a:p>
        </p:txBody>
      </p:sp>
      <p:sp>
        <p:nvSpPr>
          <p:cNvPr id="21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F2AC4838-7782-4163-A2C3-E22FCF9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815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王一雪</a:t>
            </a:r>
          </a:p>
        </p:txBody>
      </p:sp>
      <p:sp>
        <p:nvSpPr>
          <p:cNvPr id="22" name="bubble-464">
            <a:extLst xmlns:a="http://schemas.openxmlformats.org/drawingml/2006/main">
              <a:ext uri="{FF2B5EF4-FFF2-40B4-BE49-F238E27FC236}">
                <a16:creationId xmlns:a16="http://schemas.microsoft.com/office/drawing/2014/main" id="{8E33E5C9-7696-4227-A90A-E5EB10E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05350"/>
            <a:ext cx="11049000" cy="81915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F5449"/>
            </a:solidFill>
            <a:prstDash val="solid"/>
          </a:ln>
        </p:spPr>
      </p:sp>
      <p:sp>
        <p:nvSpPr>
          <p:cNvPr id="23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7A959E44-4DC9-4BCA-8FFC-DFC6B5B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7815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Bù néng. Zhèxiē shì nǚ háizi chuān de yīfu, nán háizi de yīfu zài nàr.</a:t>
            </a:r>
          </a:p>
        </p:txBody>
      </p:sp>
      <p:sp>
        <p:nvSpPr>
          <p:cNvPr id="24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51A44AA1-1E76-4CDA-BF72-6508290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81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不能。这些是女孩子穿的衣服，男孩子的衣服在那儿。</a:t>
            </a:r>
          </a:p>
        </p:txBody>
      </p:sp>
      <p:sp>
        <p:nvSpPr>
          <p:cNvPr id="25" name="bubble-speaker-464">
            <a:extLst xmlns:a="http://schemas.openxmlformats.org/drawingml/2006/main">
              <a:ext uri="{FF2B5EF4-FFF2-40B4-BE49-F238E27FC236}">
                <a16:creationId xmlns:a16="http://schemas.microsoft.com/office/drawing/2014/main" id="{EAF8A8DB-CAB6-4347-AB44-8C9400DC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388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1275" b="1">
                <a:solidFill>
                  <a:srgbClr val="97423B"/>
                </a:solidFill>
              </a:defRPr>
            </a:pPr>
            <a:r>
              <a:rPr sz="18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刘明</a:t>
            </a:r>
          </a:p>
        </p:txBody>
      </p:sp>
      <p:sp>
        <p:nvSpPr>
          <p:cNvPr id="26" name="bubble-464">
            <a:extLst xmlns:a="http://schemas.openxmlformats.org/drawingml/2006/main">
              <a:ext uri="{FF2B5EF4-FFF2-40B4-BE49-F238E27FC236}">
                <a16:creationId xmlns:a16="http://schemas.microsoft.com/office/drawing/2014/main" id="{D7BB8F59-37F3-4FAB-8681-DACC2EE3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62600"/>
            <a:ext cx="11049000" cy="7239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7AFA5"/>
            </a:solidFill>
            <a:prstDash val="solid"/>
          </a:ln>
        </p:spPr>
      </p:sp>
      <p:sp>
        <p:nvSpPr>
          <p:cNvPr id="27" name="bubble-pinyin-464">
            <a:extLst xmlns:a="http://schemas.openxmlformats.org/drawingml/2006/main">
              <a:ext uri="{FF2B5EF4-FFF2-40B4-BE49-F238E27FC236}">
                <a16:creationId xmlns:a16="http://schemas.microsoft.com/office/drawing/2014/main" id="{2615A6BA-EBBA-4821-B09D-4E0BF06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63880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Hǎo de.</a:t>
            </a:r>
          </a:p>
        </p:txBody>
      </p:sp>
      <p:sp>
        <p:nvSpPr>
          <p:cNvPr id="28" name="bubble-hanzi-464">
            <a:extLst xmlns:a="http://schemas.openxmlformats.org/drawingml/2006/main">
              <a:ext uri="{FF2B5EF4-FFF2-40B4-BE49-F238E27FC236}">
                <a16:creationId xmlns:a16="http://schemas.microsoft.com/office/drawing/2014/main" id="{F3CAE303-0786-4F40-9421-A4C09BB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43600"/>
            <a:ext cx="923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好的。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7359A61-4C3A-4CDB-BAA6-219DB8B2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ge-mark">
            <a:extLst xmlns:a="http://schemas.openxmlformats.org/drawingml/2006/main">
              <a:ext uri="{FF2B5EF4-FFF2-40B4-BE49-F238E27FC236}">
                <a16:creationId xmlns:a16="http://schemas.microsoft.com/office/drawing/2014/main" id="{79E9FA72-9396-4CEE-8F5D-83BFAB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24</a:t>
            </a:r>
          </a:p>
        </p:txBody>
      </p:sp>
      <p:pic>
        <p:nvPicPr>
          <p:cNvPr id="62" name="dialogue-semantic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72af42bb44cba"/>
          <a:srcRect xmlns:a="http://schemas.openxmlformats.org/drawingml/2006/main" l="0" t="189" r="0" b="1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0" y="171450"/>
            <a:ext cx="1428750" cy="83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76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7A795537-AE29-481F-8760-93BD9D5F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课文3｜核心词语  Key Words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EA3F4A97-FD06-4E73-A6C2-66906525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E6B86891-E894-47B6-9A55-3F88FB3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跟读本组词语，再任选一个说短句。</a:t>
            </a:r>
          </a:p>
        </p:txBody>
      </p:sp>
      <p:sp>
        <p:nvSpPr>
          <p:cNvPr id="6" name="py-今天">
            <a:extLst xmlns:a="http://schemas.openxmlformats.org/drawingml/2006/main">
              <a:ext uri="{FF2B5EF4-FFF2-40B4-BE49-F238E27FC236}">
                <a16:creationId xmlns:a16="http://schemas.microsoft.com/office/drawing/2014/main" id="{C99657F5-9085-424C-A45D-9F348998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guì</a:t>
            </a:r>
          </a:p>
        </p:txBody>
      </p:sp>
      <p:sp>
        <p:nvSpPr>
          <p:cNvPr id="7" name="zh-今天">
            <a:extLst xmlns:a="http://schemas.openxmlformats.org/drawingml/2006/main">
              <a:ext uri="{FF2B5EF4-FFF2-40B4-BE49-F238E27FC236}">
                <a16:creationId xmlns:a16="http://schemas.microsoft.com/office/drawing/2014/main" id="{B0CF442B-1889-4858-B01A-3421F61A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贵</a:t>
            </a:r>
          </a:p>
        </p:txBody>
      </p:sp>
      <p:sp>
        <p:nvSpPr>
          <p:cNvPr id="8" name="en-今天">
            <a:extLst xmlns:a="http://schemas.openxmlformats.org/drawingml/2006/main">
              <a:ext uri="{FF2B5EF4-FFF2-40B4-BE49-F238E27FC236}">
                <a16:creationId xmlns:a16="http://schemas.microsoft.com/office/drawing/2014/main" id="{7B374E70-B304-407A-9D91-9A2FA13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expensive</a:t>
            </a:r>
          </a:p>
        </p:txBody>
      </p:sp>
      <p:sp>
        <p:nvSpPr>
          <p:cNvPr id="9" name="py-号">
            <a:extLst xmlns:a="http://schemas.openxmlformats.org/drawingml/2006/main">
              <a:ext uri="{FF2B5EF4-FFF2-40B4-BE49-F238E27FC236}">
                <a16:creationId xmlns:a16="http://schemas.microsoft.com/office/drawing/2014/main" id="{EC464888-3573-4A8D-A094-118CDB4F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chuān</a:t>
            </a:r>
          </a:p>
        </p:txBody>
      </p:sp>
      <p:sp>
        <p:nvSpPr>
          <p:cNvPr id="10" name="zh-号">
            <a:extLst xmlns:a="http://schemas.openxmlformats.org/drawingml/2006/main">
              <a:ext uri="{FF2B5EF4-FFF2-40B4-BE49-F238E27FC236}">
                <a16:creationId xmlns:a16="http://schemas.microsoft.com/office/drawing/2014/main" id="{DD5EA41A-D289-40AF-B978-EE8334C8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穿</a:t>
            </a:r>
          </a:p>
        </p:txBody>
      </p:sp>
      <p:sp>
        <p:nvSpPr>
          <p:cNvPr id="11" name="en-号">
            <a:extLst xmlns:a="http://schemas.openxmlformats.org/drawingml/2006/main">
              <a:ext uri="{FF2B5EF4-FFF2-40B4-BE49-F238E27FC236}">
                <a16:creationId xmlns:a16="http://schemas.microsoft.com/office/drawing/2014/main" id="{E44E14A3-FC5F-4A3B-BDBF-A6EAAAC1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8602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wear</a:t>
            </a:r>
          </a:p>
        </p:txBody>
      </p:sp>
      <p:sp>
        <p:nvSpPr>
          <p:cNvPr id="12" name="py-月">
            <a:extLst xmlns:a="http://schemas.openxmlformats.org/drawingml/2006/main">
              <a:ext uri="{FF2B5EF4-FFF2-40B4-BE49-F238E27FC236}">
                <a16:creationId xmlns:a16="http://schemas.microsoft.com/office/drawing/2014/main" id="{397558D9-A41F-4449-B758-0409B1DD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nǚ</a:t>
            </a:r>
          </a:p>
        </p:txBody>
      </p:sp>
      <p:sp>
        <p:nvSpPr>
          <p:cNvPr id="13" name="zh-月">
            <a:extLst xmlns:a="http://schemas.openxmlformats.org/drawingml/2006/main">
              <a:ext uri="{FF2B5EF4-FFF2-40B4-BE49-F238E27FC236}">
                <a16:creationId xmlns:a16="http://schemas.microsoft.com/office/drawing/2014/main" id="{FA9EB7FF-784A-4B94-ACBA-069EC7F9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女</a:t>
            </a:r>
          </a:p>
        </p:txBody>
      </p:sp>
      <p:sp>
        <p:nvSpPr>
          <p:cNvPr id="14" name="en-月">
            <a:extLst xmlns:a="http://schemas.openxmlformats.org/drawingml/2006/main">
              <a:ext uri="{FF2B5EF4-FFF2-40B4-BE49-F238E27FC236}">
                <a16:creationId xmlns:a16="http://schemas.microsoft.com/office/drawing/2014/main" id="{1BB42A22-921E-46B1-80AD-0019AC7A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female</a:t>
            </a:r>
          </a:p>
        </p:txBody>
      </p:sp>
      <p:sp>
        <p:nvSpPr>
          <p:cNvPr id="15" name="py-日">
            <a:extLst xmlns:a="http://schemas.openxmlformats.org/drawingml/2006/main">
              <a:ext uri="{FF2B5EF4-FFF2-40B4-BE49-F238E27FC236}">
                <a16:creationId xmlns:a16="http://schemas.microsoft.com/office/drawing/2014/main" id="{C469F6C4-ED87-40E3-8677-3F35359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813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Arial"/>
                <a:ea typeface="Arial"/>
                <a:cs typeface="Arial"/>
              </a:rPr>
              <a:t>nán</a:t>
            </a:r>
          </a:p>
        </p:txBody>
      </p:sp>
      <p:sp>
        <p:nvSpPr>
          <p:cNvPr id="16" name="zh-日">
            <a:extLst xmlns:a="http://schemas.openxmlformats.org/drawingml/2006/main">
              <a:ext uri="{FF2B5EF4-FFF2-40B4-BE49-F238E27FC236}">
                <a16:creationId xmlns:a16="http://schemas.microsoft.com/office/drawing/2014/main" id="{47D4E6CE-EDB9-4E67-BC50-2DA4446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2902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男</a:t>
            </a:r>
          </a:p>
        </p:txBody>
      </p:sp>
      <p:sp>
        <p:nvSpPr>
          <p:cNvPr id="17" name="en-日">
            <a:extLst xmlns:a="http://schemas.openxmlformats.org/drawingml/2006/main">
              <a:ext uri="{FF2B5EF4-FFF2-40B4-BE49-F238E27FC236}">
                <a16:creationId xmlns:a16="http://schemas.microsoft.com/office/drawing/2014/main" id="{C3CF2601-AB5F-4685-B6B9-4AFFAA7B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05275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8605A"/>
                </a:solidFill>
              </a:defRPr>
            </a:pPr>
            <a:r>
              <a:rPr sz="16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male</a:t>
            </a:r>
          </a:p>
        </p:txBody>
      </p:sp>
      <p:sp>
        <p:nvSpPr>
          <p:cNvPr id="18" name="date-example">
            <a:extLst xmlns:a="http://schemas.openxmlformats.org/drawingml/2006/main">
              <a:ext uri="{FF2B5EF4-FFF2-40B4-BE49-F238E27FC236}">
                <a16:creationId xmlns:a16="http://schemas.microsoft.com/office/drawing/2014/main" id="{4127BDF8-D416-4162-A168-73AF6446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97423B"/>
                </a:solidFill>
              </a:defRPr>
            </a:pPr>
            <a:r>
              <a:rPr sz="2250" b="1">
                <a:solidFill>
                  <a:srgbClr val="97423B"/>
                </a:solidFill>
                <a:latin typeface="Microsoft YaHei"/>
                <a:ea typeface="Microsoft YaHei"/>
                <a:cs typeface="Microsoft YaHei"/>
              </a:rPr>
              <a:t>补充词：那儿 nàr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742E9D7-9EC6-43AD-9F3B-9D1CC01C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ge-mark">
            <a:extLst xmlns:a="http://schemas.openxmlformats.org/drawingml/2006/main">
              <a:ext uri="{FF2B5EF4-FFF2-40B4-BE49-F238E27FC236}">
                <a16:creationId xmlns:a16="http://schemas.microsoft.com/office/drawing/2014/main" id="{5771932F-3DD5-4033-938A-F3111D77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25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be79778754ab7"/>
          <a:srcRect xmlns:a="http://schemas.openxmlformats.org/drawingml/2006/main" l="0" t="10" r="0" b="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999" y="1762125"/>
            <a:ext cx="4063253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0562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">
            <a:extLst xmlns:a="http://schemas.openxmlformats.org/drawingml/2006/main">
              <a:ext uri="{FF2B5EF4-FFF2-40B4-BE49-F238E27FC236}">
                <a16:creationId xmlns:a16="http://schemas.microsoft.com/office/drawing/2014/main" id="{31AAE187-8E55-4FCC-ACA9-90C3E5B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疑问代词“怎么样”  Grammar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C3C1A23A-D25A-48F1-9709-4FFECF5B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3D76F12-A375-4069-8B8A-3EE538DC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读三组句型，再替换关键信息。</a:t>
            </a:r>
          </a:p>
        </p:txBody>
      </p:sp>
      <p:sp>
        <p:nvSpPr>
          <p:cNvPr id="5" name="pattern-0">
            <a:extLst xmlns:a="http://schemas.openxmlformats.org/drawingml/2006/main">
              <a:ext uri="{FF2B5EF4-FFF2-40B4-BE49-F238E27FC236}">
                <a16:creationId xmlns:a16="http://schemas.microsoft.com/office/drawing/2014/main" id="{15FADA5C-A901-46EA-9F53-38819A8D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名词 + 怎么样</a:t>
            </a:r>
          </a:p>
        </p:txBody>
      </p:sp>
      <p:sp>
        <p:nvSpPr>
          <p:cNvPr id="6" name="arrow-520-197">
            <a:extLst xmlns:a="http://schemas.openxmlformats.org/drawingml/2006/main">
              <a:ext uri="{FF2B5EF4-FFF2-40B4-BE49-F238E27FC236}">
                <a16:creationId xmlns:a16="http://schemas.microsoft.com/office/drawing/2014/main" id="{A5DEB5AA-036B-4F62-BC36-9DBAF104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7642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pattern-ex-0">
            <a:extLst xmlns:a="http://schemas.openxmlformats.org/drawingml/2006/main">
              <a:ext uri="{FF2B5EF4-FFF2-40B4-BE49-F238E27FC236}">
                <a16:creationId xmlns:a16="http://schemas.microsoft.com/office/drawing/2014/main" id="{CF82E89B-864F-4C45-B8B2-BC965C2F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这个杯子怎么样？</a:t>
            </a:r>
          </a:p>
        </p:txBody>
      </p:sp>
      <p:sp>
        <p:nvSpPr>
          <p:cNvPr id="8" name="pattern-1">
            <a:extLst xmlns:a="http://schemas.openxmlformats.org/drawingml/2006/main">
              <a:ext uri="{FF2B5EF4-FFF2-40B4-BE49-F238E27FC236}">
                <a16:creationId xmlns:a16="http://schemas.microsoft.com/office/drawing/2014/main" id="{562B393E-A512-400A-A330-117FCCC8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评价商品</a:t>
            </a:r>
          </a:p>
        </p:txBody>
      </p:sp>
      <p:sp>
        <p:nvSpPr>
          <p:cNvPr id="9" name="arrow-520-322">
            <a:extLst xmlns:a="http://schemas.openxmlformats.org/drawingml/2006/main">
              <a:ext uri="{FF2B5EF4-FFF2-40B4-BE49-F238E27FC236}">
                <a16:creationId xmlns:a16="http://schemas.microsoft.com/office/drawing/2014/main" id="{3351E608-FDA9-4692-AB85-61EE28D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attern-ex-1">
            <a:extLst xmlns:a="http://schemas.openxmlformats.org/drawingml/2006/main">
              <a:ext uri="{FF2B5EF4-FFF2-40B4-BE49-F238E27FC236}">
                <a16:creationId xmlns:a16="http://schemas.microsoft.com/office/drawing/2014/main" id="{46B819DA-FBE8-45D3-8930-B457A129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我很喜欢，也不贵。</a:t>
            </a:r>
          </a:p>
        </p:txBody>
      </p:sp>
      <p:sp>
        <p:nvSpPr>
          <p:cNvPr id="11" name="pattern-2">
            <a:extLst xmlns:a="http://schemas.openxmlformats.org/drawingml/2006/main">
              <a:ext uri="{FF2B5EF4-FFF2-40B4-BE49-F238E27FC236}">
                <a16:creationId xmlns:a16="http://schemas.microsoft.com/office/drawing/2014/main" id="{D143B208-2BC3-45B0-A52B-16C56797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3714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评价食物</a:t>
            </a:r>
          </a:p>
        </p:txBody>
      </p:sp>
      <p:sp>
        <p:nvSpPr>
          <p:cNvPr id="12" name="arrow-520-447">
            <a:extLst xmlns:a="http://schemas.openxmlformats.org/drawingml/2006/main">
              <a:ext uri="{FF2B5EF4-FFF2-40B4-BE49-F238E27FC236}">
                <a16:creationId xmlns:a16="http://schemas.microsoft.com/office/drawing/2014/main" id="{2E9D11AA-E6D6-4906-BA01-77800CC0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BF5449"/>
                </a:solidFill>
              </a:defRPr>
            </a:pPr>
            <a:r>
              <a:rPr sz="2550" b="1">
                <a:solidFill>
                  <a:srgbClr val="BF544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pattern-ex-2">
            <a:extLst xmlns:a="http://schemas.openxmlformats.org/drawingml/2006/main">
              <a:ext uri="{FF2B5EF4-FFF2-40B4-BE49-F238E27FC236}">
                <a16:creationId xmlns:a16="http://schemas.microsoft.com/office/drawing/2014/main" id="{973AC6C7-1223-4A7A-B88F-5D583C3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4337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7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这个菜不太好吃。</a:t>
            </a:r>
          </a:p>
        </p:txBody>
      </p:sp>
      <p:sp>
        <p:nvSpPr>
          <p:cNvPr id="14" name="hui-meaning">
            <a:extLst xmlns:a="http://schemas.openxmlformats.org/drawingml/2006/main">
              <a:ext uri="{FF2B5EF4-FFF2-40B4-BE49-F238E27FC236}">
                <a16:creationId xmlns:a16="http://schemas.microsoft.com/office/drawing/2014/main" id="{B118C3D6-234D-4EC7-A4D9-F27CDC92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305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1735B"/>
                </a:solidFill>
              </a:defRPr>
            </a:pPr>
            <a:r>
              <a:rPr sz="2250" b="1">
                <a:solidFill>
                  <a:srgbClr val="51735B"/>
                </a:solidFill>
                <a:latin typeface="KaiTi"/>
                <a:ea typeface="KaiTi"/>
                <a:cs typeface="KaiTi"/>
              </a:rPr>
              <a:t>“怎么样”用于征求意见或询问情况。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0292CD-7E06-4E28-B65A-F24E8335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age-mark">
            <a:extLst xmlns:a="http://schemas.openxmlformats.org/drawingml/2006/main">
              <a:ext uri="{FF2B5EF4-FFF2-40B4-BE49-F238E27FC236}">
                <a16:creationId xmlns:a16="http://schemas.microsoft.com/office/drawing/2014/main" id="{E24B7BD3-5A6E-475B-AA8C-97215BDD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26</a:t>
            </a:r>
          </a:p>
        </p:txBody>
      </p:sp>
    </p:spTree>
    <p:extLst>
      <p:ext uri="{BB962C8B-B14F-4D97-AF65-F5344CB8AC3E}">
        <p14:creationId xmlns:p14="http://schemas.microsoft.com/office/powerpoint/2010/main" val="19157941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D9220FA6-EC41-4FAF-94B9-9BDCBCB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综合填空  Review · Fill in the Blanks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270ACD01-06B0-4C0E-B754-ACCACA3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30C38CBA-7012-4B28-83CD-53BCE4C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独立填空，再读出完整句。</a:t>
            </a:r>
          </a:p>
        </p:txBody>
      </p:sp>
      <p:sp>
        <p:nvSpPr>
          <p:cNvPr id="5" name="word-bank">
            <a:extLst xmlns:a="http://schemas.openxmlformats.org/drawingml/2006/main">
              <a:ext uri="{FF2B5EF4-FFF2-40B4-BE49-F238E27FC236}">
                <a16:creationId xmlns:a16="http://schemas.microsoft.com/office/drawing/2014/main" id="{F336A700-E291-4A85-9899-3D7DF1D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38300"/>
            <a:ext cx="10096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词语（可重复使用）：A 杯子　｜　B 怎么样　｜　C 多少　｜　D 这些　｜　E 块</a:t>
            </a:r>
          </a:p>
        </p:txBody>
      </p:sp>
      <p:sp>
        <p:nvSpPr>
          <p:cNvPr id="6" name="fill-1">
            <a:extLst xmlns:a="http://schemas.openxmlformats.org/drawingml/2006/main">
              <a:ext uri="{FF2B5EF4-FFF2-40B4-BE49-F238E27FC236}">
                <a16:creationId xmlns:a16="http://schemas.microsoft.com/office/drawing/2014/main" id="{91ABCF8C-F7AA-4360-B5FE-28661FD2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请问，这本书____钱？</a:t>
            </a:r>
          </a:p>
        </p:txBody>
      </p:sp>
      <p:sp>
        <p:nvSpPr>
          <p:cNvPr id="7" name="fill-2">
            <a:extLst xmlns:a="http://schemas.openxmlformats.org/drawingml/2006/main">
              <a:ext uri="{FF2B5EF4-FFF2-40B4-BE49-F238E27FC236}">
                <a16:creationId xmlns:a16="http://schemas.microsoft.com/office/drawing/2014/main" id="{E7692F26-BBF8-4D20-81E8-32451BB3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这个____不便宜，六十五____钱一个。</a:t>
            </a:r>
          </a:p>
        </p:txBody>
      </p:sp>
      <p:sp>
        <p:nvSpPr>
          <p:cNvPr id="8" name="fill-3a">
            <a:extLst xmlns:a="http://schemas.openxmlformats.org/drawingml/2006/main">
              <a:ext uri="{FF2B5EF4-FFF2-40B4-BE49-F238E27FC236}">
                <a16:creationId xmlns:a16="http://schemas.microsoft.com/office/drawing/2014/main" id="{7AE35D3B-F06E-4246-8B5D-7D4AF674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售货员：____苹果您买一些吧。王一雪：好的，我买五个。</a:t>
            </a:r>
          </a:p>
        </p:txBody>
      </p:sp>
      <p:sp>
        <p:nvSpPr>
          <p:cNvPr id="9" name="fill-3b">
            <a:extLst xmlns:a="http://schemas.openxmlformats.org/drawingml/2006/main">
              <a:ext uri="{FF2B5EF4-FFF2-40B4-BE49-F238E27FC236}">
                <a16:creationId xmlns:a16="http://schemas.microsoft.com/office/drawing/2014/main" id="{CD4C1D5E-05FB-4A5B-A928-C5D65CCF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0" name="fill-4a">
            <a:extLst xmlns:a="http://schemas.openxmlformats.org/drawingml/2006/main">
              <a:ext uri="{FF2B5EF4-FFF2-40B4-BE49-F238E27FC236}">
                <a16:creationId xmlns:a16="http://schemas.microsoft.com/office/drawing/2014/main" id="{C80837A9-C530-4DA7-B934-F3D150AD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安妮：这件衣服____？白家月：很好看。</a:t>
            </a:r>
          </a:p>
        </p:txBody>
      </p:sp>
      <p:sp>
        <p:nvSpPr>
          <p:cNvPr id="11" name="fill-4b">
            <a:extLst xmlns:a="http://schemas.openxmlformats.org/drawingml/2006/main">
              <a:ext uri="{FF2B5EF4-FFF2-40B4-BE49-F238E27FC236}">
                <a16:creationId xmlns:a16="http://schemas.microsoft.com/office/drawing/2014/main" id="{470A0BF9-7698-4EE1-9BA1-DC29221E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86375"/>
            <a:ext cx="942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71717"/>
                </a:solidFill>
              </a:defRPr>
            </a:pPr>
            <a:r>
              <a:rPr sz="2025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/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F415A47-A02F-498B-8057-FB05B342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42E24C99-CA5A-4AE7-BF76-240A97E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27</a:t>
            </a:r>
          </a:p>
        </p:txBody>
      </p:sp>
    </p:spTree>
    <p:extLst>
      <p:ext uri="{BB962C8B-B14F-4D97-AF65-F5344CB8AC3E}">
        <p14:creationId xmlns:p14="http://schemas.microsoft.com/office/powerpoint/2010/main" val="14184688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DE0579EF-FB2F-420B-B858-778D35AF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教材看图输出  Picture-based Output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BE1CC3D0-F3A9-41ED-825B-06D35C14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60F6BC29-5F59-4D59-B12C-4DABBECB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看四幅教材图片，逐项补全并读出。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492f3a5c04858"/>
          <a:stretch xmlns:a="http://schemas.openxmlformats.org/drawingml/2006/main"/>
        </p:blipFill>
        <p:spPr>
          <a:xfrm xmlns:a="http://schemas.openxmlformats.org/drawingml/2006/main">
            <a:off x="857250" y="2422148"/>
            <a:ext cx="5191125" cy="1442204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4aa3669b84c79"/>
          <a:stretch xmlns:a="http://schemas.openxmlformats.org/drawingml/2006/main"/>
        </p:blipFill>
        <p:spPr>
          <a:xfrm xmlns:a="http://schemas.openxmlformats.org/drawingml/2006/main">
            <a:off x="6238875" y="2410974"/>
            <a:ext cx="5286375" cy="1464552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7" name="pic-output-1">
            <a:extLst xmlns:a="http://schemas.openxmlformats.org/drawingml/2006/main">
              <a:ext uri="{FF2B5EF4-FFF2-40B4-BE49-F238E27FC236}">
                <a16:creationId xmlns:a16="http://schemas.microsoft.com/office/drawing/2014/main" id="{57D6F79C-9113-401A-9FF1-B4D8D9B3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191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这儿的苹果______。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这个电影______？</a:t>
            </a:r>
          </a:p>
        </p:txBody>
      </p:sp>
      <p:sp>
        <p:nvSpPr>
          <p:cNvPr id="8" name="pic-output-2">
            <a:extLst xmlns:a="http://schemas.openxmlformats.org/drawingml/2006/main">
              <a:ext uri="{FF2B5EF4-FFF2-40B4-BE49-F238E27FC236}">
                <a16:creationId xmlns:a16="http://schemas.microsoft.com/office/drawing/2014/main" id="{8183D4D9-5F13-4F74-B46A-68D1B11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476750"/>
            <a:ext cx="52863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那些杯子______，非常______。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4. 这件衣服______，一件______块。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5D75215-00A3-4B66-8E4D-DC57CAA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ge-mark">
            <a:extLst xmlns:a="http://schemas.openxmlformats.org/drawingml/2006/main">
              <a:ext uri="{FF2B5EF4-FFF2-40B4-BE49-F238E27FC236}">
                <a16:creationId xmlns:a16="http://schemas.microsoft.com/office/drawing/2014/main" id="{53CFF65A-6532-4825-8CA0-1CF899C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28</a:t>
            </a:r>
          </a:p>
        </p:txBody>
      </p:sp>
    </p:spTree>
    <p:extLst>
      <p:ext uri="{BB962C8B-B14F-4D97-AF65-F5344CB8AC3E}">
        <p14:creationId xmlns:p14="http://schemas.microsoft.com/office/powerpoint/2010/main" val="8270871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30DAE86A-090F-479F-8C13-A2EE12A2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课堂活动与拓展  Activity &amp; Extension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1EFCD709-3EA2-477B-B975-5B19E6A1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B0E5A216-9052-488B-86F2-47B78E17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按三步完成活动，再说一条本课观察。</a:t>
            </a:r>
          </a:p>
        </p:txBody>
      </p:sp>
      <p:sp>
        <p:nvSpPr>
          <p:cNvPr id="5" name="game-step-0">
            <a:extLst xmlns:a="http://schemas.openxmlformats.org/drawingml/2006/main">
              <a:ext uri="{FF2B5EF4-FFF2-40B4-BE49-F238E27FC236}">
                <a16:creationId xmlns:a16="http://schemas.microsoft.com/office/drawing/2014/main" id="{51850DDA-1CE0-45DE-BB6E-5E67D79B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1</a:t>
            </a:r>
          </a:p>
        </p:txBody>
      </p:sp>
      <p:sp>
        <p:nvSpPr>
          <p:cNvPr id="6" name="game-text-0">
            <a:extLst xmlns:a="http://schemas.openxmlformats.org/drawingml/2006/main">
              <a:ext uri="{FF2B5EF4-FFF2-40B4-BE49-F238E27FC236}">
                <a16:creationId xmlns:a16="http://schemas.microsoft.com/office/drawing/2014/main" id="{38E15123-F7F0-4667-A2C3-F4702E0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三人分成一名售货员和两名顾客。</a:t>
            </a:r>
          </a:p>
        </p:txBody>
      </p:sp>
      <p:sp>
        <p:nvSpPr>
          <p:cNvPr id="7" name="game-step-1">
            <a:extLst xmlns:a="http://schemas.openxmlformats.org/drawingml/2006/main">
              <a:ext uri="{FF2B5EF4-FFF2-40B4-BE49-F238E27FC236}">
                <a16:creationId xmlns:a16="http://schemas.microsoft.com/office/drawing/2014/main" id="{ADAEC51E-7FC7-4EF5-AA79-9C147161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62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2</a:t>
            </a:r>
          </a:p>
        </p:txBody>
      </p:sp>
      <p:sp>
        <p:nvSpPr>
          <p:cNvPr id="8" name="game-text-1">
            <a:extLst xmlns:a="http://schemas.openxmlformats.org/drawingml/2006/main">
              <a:ext uri="{FF2B5EF4-FFF2-40B4-BE49-F238E27FC236}">
                <a16:creationId xmlns:a16="http://schemas.microsoft.com/office/drawing/2014/main" id="{358246CF-8216-487C-849D-B31BE54B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431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  <a:latin typeface="KaiTi"/>
                <a:ea typeface="KaiTi"/>
                <a:cs typeface="KaiTi"/>
              </a:rPr>
              <a:t>顾客询价、评价并决定是否购买。</a:t>
            </a:r>
          </a:p>
        </p:txBody>
      </p:sp>
      <p:sp>
        <p:nvSpPr>
          <p:cNvPr id="9" name="game-step-2">
            <a:extLst xmlns:a="http://schemas.openxmlformats.org/drawingml/2006/main">
              <a:ext uri="{FF2B5EF4-FFF2-40B4-BE49-F238E27FC236}">
                <a16:creationId xmlns:a16="http://schemas.microsoft.com/office/drawing/2014/main" id="{D1E49552-AA12-45EA-AD6D-4E186DCE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05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F54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  <a:latin typeface="KaiTi"/>
                <a:ea typeface="KaiTi"/>
                <a:cs typeface="KaiTi"/>
              </a:rPr>
              <a:t>3</a:t>
            </a:r>
          </a:p>
        </p:txBody>
      </p:sp>
      <p:sp>
        <p:nvSpPr>
          <p:cNvPr id="10" name="game-text-2">
            <a:extLst xmlns:a="http://schemas.openxmlformats.org/drawingml/2006/main">
              <a:ext uri="{FF2B5EF4-FFF2-40B4-BE49-F238E27FC236}">
                <a16:creationId xmlns:a16="http://schemas.microsoft.com/office/drawing/2014/main" id="{648CAB9D-199E-4A19-BBDE-C6DDC2DD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8610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交换角色，再完成一轮购物对话。</a:t>
            </a:r>
          </a:p>
        </p:txBody>
      </p:sp>
      <p:sp>
        <p:nvSpPr>
          <p:cNvPr id="11" name="game-example-label">
            <a:extLst xmlns:a="http://schemas.openxmlformats.org/drawingml/2006/main">
              <a:ext uri="{FF2B5EF4-FFF2-40B4-BE49-F238E27FC236}">
                <a16:creationId xmlns:a16="http://schemas.microsoft.com/office/drawing/2014/main" id="{837621B1-CD51-4C78-9A2C-D5BE83B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97423B"/>
                </a:solidFill>
              </a:defRPr>
            </a:pPr>
            <a:r>
              <a:rPr sz="24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任务材料与本课观察</a:t>
            </a:r>
          </a:p>
        </p:txBody>
      </p:sp>
      <p:sp>
        <p:nvSpPr>
          <p:cNvPr id="12" name="game-example-frame">
            <a:extLst xmlns:a="http://schemas.openxmlformats.org/drawingml/2006/main">
              <a:ext uri="{FF2B5EF4-FFF2-40B4-BE49-F238E27FC236}">
                <a16:creationId xmlns:a16="http://schemas.microsoft.com/office/drawing/2014/main" id="{571CD8A0-A03F-4828-A2D7-3E5B439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0" cy="1333500"/>
          </a:xfrm>
          <a:prstGeom xmlns:a="http://schemas.openxmlformats.org/drawingml/2006/main" prst="roundRect">
            <a:avLst>
              <a:gd name="adj" fmla="val 571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BF5449"/>
            </a:solidFill>
            <a:prstDash val="solid"/>
          </a:ln>
        </p:spPr>
      </p:sp>
      <p:sp>
        <p:nvSpPr>
          <p:cNvPr id="13" name="game-example-1">
            <a:extLst xmlns:a="http://schemas.openxmlformats.org/drawingml/2006/main">
              <a:ext uri="{FF2B5EF4-FFF2-40B4-BE49-F238E27FC236}">
                <a16:creationId xmlns:a16="http://schemas.microsoft.com/office/drawing/2014/main" id="{AC8F6DA0-BEEE-4C9A-B168-2F66A313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048125"/>
            <a:ext cx="976312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人民币｜书面单位：元→角→分｜口语单位：块→毛→分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0.02元＝两分 liǎng fēn｜0.2元＝两毛 liǎng máo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3元＝三块 sān kuài｜3.2元＝三块二 sān kuài èr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6.02元＝六块零两分 liù kuài líng liǎng fēn｜202.2元＝二百零二块两毛 èrbǎi líng èr kuài liǎng máo</a:t>
            </a:r>
          </a:p>
        </p:txBody>
      </p:sp>
      <p:sp>
        <p:nvSpPr>
          <p:cNvPr id="14" name="game-example-2">
            <a:extLst xmlns:a="http://schemas.openxmlformats.org/drawingml/2006/main">
              <a:ext uri="{FF2B5EF4-FFF2-40B4-BE49-F238E27FC236}">
                <a16:creationId xmlns:a16="http://schemas.microsoft.com/office/drawing/2014/main" id="{C15A92DF-F84C-48FB-A971-AD74B4A4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29300"/>
            <a:ext cx="976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人民币单位是元、角、分，口语常说块、毛、分。购物对话中按实际钱数读出价格。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871446F-220D-48B5-A406-48209FF7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ge-mark">
            <a:extLst xmlns:a="http://schemas.openxmlformats.org/drawingml/2006/main">
              <a:ext uri="{FF2B5EF4-FFF2-40B4-BE49-F238E27FC236}">
                <a16:creationId xmlns:a16="http://schemas.microsoft.com/office/drawing/2014/main" id="{8233E07E-3917-4247-A72E-8062AF3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29</a:t>
            </a:r>
          </a:p>
        </p:txBody>
      </p:sp>
    </p:spTree>
    <p:extLst>
      <p:ext uri="{BB962C8B-B14F-4D97-AF65-F5344CB8AC3E}">
        <p14:creationId xmlns:p14="http://schemas.microsoft.com/office/powerpoint/2010/main" val="35571395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A38B8BF7-3780-4326-B840-A46E228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172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本课出口条  Lesson Exit Ticket</a:t>
            </a:r>
          </a:p>
        </p:txBody>
      </p:sp>
      <p:sp>
        <p:nvSpPr>
          <p:cNvPr id="2" name="title-underline">
            <a:extLst xmlns:a="http://schemas.openxmlformats.org/drawingml/2006/main">
              <a:ext uri="{FF2B5EF4-FFF2-40B4-BE49-F238E27FC236}">
                <a16:creationId xmlns:a16="http://schemas.microsoft.com/office/drawing/2014/main" id="{90A4B330-2D51-4F59-AB1F-518A0DA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95350"/>
            <a:ext cx="4629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udent-instruction">
            <a:extLst xmlns:a="http://schemas.openxmlformats.org/drawingml/2006/main">
              <a:ext uri="{FF2B5EF4-FFF2-40B4-BE49-F238E27FC236}">
                <a16:creationId xmlns:a16="http://schemas.microsoft.com/office/drawing/2014/main" id="{D162B288-9B6A-43FF-9900-E5EDAECC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28700"/>
            <a:ext cx="112204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E5D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14300" tIns="28575" rIns="11430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7423B"/>
                </a:solidFill>
              </a:defRPr>
            </a:pPr>
            <a:r>
              <a:rPr sz="1800" b="0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写下三个答案，再读出一题。</a:t>
            </a:r>
          </a:p>
        </p:txBody>
      </p:sp>
      <p:sp>
        <p:nvSpPr>
          <p:cNvPr id="5" name="final-exit-time">
            <a:extLst xmlns:a="http://schemas.openxmlformats.org/drawingml/2006/main">
              <a:ext uri="{FF2B5EF4-FFF2-40B4-BE49-F238E27FC236}">
                <a16:creationId xmlns:a16="http://schemas.microsoft.com/office/drawing/2014/main" id="{16E8C66E-86FD-4468-81BB-149FDCF6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695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97423B"/>
                </a:solidFill>
              </a:defRPr>
            </a:pPr>
            <a:r>
              <a:rPr sz="195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写一写，说一说</a:t>
            </a:r>
          </a:p>
        </p:txBody>
      </p:sp>
      <p:sp>
        <p:nvSpPr>
          <p:cNvPr id="6" name="final-q-0">
            <a:extLst xmlns:a="http://schemas.openxmlformats.org/drawingml/2006/main">
              <a:ext uri="{FF2B5EF4-FFF2-40B4-BE49-F238E27FC236}">
                <a16:creationId xmlns:a16="http://schemas.microsoft.com/office/drawing/2014/main" id="{918330CF-D3A7-417A-B6C2-D61F06A5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1. 那件衣服王一雪想买几件？</a:t>
            </a:r>
          </a:p>
        </p:txBody>
      </p:sp>
      <p:sp>
        <p:nvSpPr>
          <p:cNvPr id="7" name="final-a-0">
            <a:extLst xmlns:a="http://schemas.openxmlformats.org/drawingml/2006/main">
              <a:ext uri="{FF2B5EF4-FFF2-40B4-BE49-F238E27FC236}">
                <a16:creationId xmlns:a16="http://schemas.microsoft.com/office/drawing/2014/main" id="{016D969E-BACD-43CA-B1ED-5165C1CC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8" name="final-q-1">
            <a:extLst xmlns:a="http://schemas.openxmlformats.org/drawingml/2006/main">
              <a:ext uri="{FF2B5EF4-FFF2-40B4-BE49-F238E27FC236}">
                <a16:creationId xmlns:a16="http://schemas.microsoft.com/office/drawing/2014/main" id="{C5FEE39D-1715-40B8-A907-5A4BA79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480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2. 男孩子的衣服在哪儿？</a:t>
            </a:r>
          </a:p>
        </p:txBody>
      </p:sp>
      <p:sp>
        <p:nvSpPr>
          <p:cNvPr id="9" name="final-a-1">
            <a:extLst xmlns:a="http://schemas.openxmlformats.org/drawingml/2006/main">
              <a:ext uri="{FF2B5EF4-FFF2-40B4-BE49-F238E27FC236}">
                <a16:creationId xmlns:a16="http://schemas.microsoft.com/office/drawing/2014/main" id="{9CD67902-A6DF-405B-A742-9E202375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0" name="final-q-2">
            <a:extLst xmlns:a="http://schemas.openxmlformats.org/drawingml/2006/main">
              <a:ext uri="{FF2B5EF4-FFF2-40B4-BE49-F238E27FC236}">
                <a16:creationId xmlns:a16="http://schemas.microsoft.com/office/drawing/2014/main" id="{C8EF8420-2435-42E5-82B5-E21B5357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571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  <a:latin typeface="KaiTi"/>
                <a:ea typeface="KaiTi"/>
                <a:cs typeface="KaiTi"/>
              </a:rPr>
              <a:t>3. 读出6.02元。</a:t>
            </a:r>
          </a:p>
        </p:txBody>
      </p:sp>
      <p:sp>
        <p:nvSpPr>
          <p:cNvPr id="11" name="final-a-2">
            <a:extLst xmlns:a="http://schemas.openxmlformats.org/drawingml/2006/main">
              <a:ext uri="{FF2B5EF4-FFF2-40B4-BE49-F238E27FC236}">
                <a16:creationId xmlns:a16="http://schemas.microsoft.com/office/drawing/2014/main" id="{B0C1F9B1-2600-4251-AF62-CCBEE0C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52950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605A"/>
                </a:solidFill>
              </a:defRPr>
            </a:pPr>
            <a:r>
              <a:rPr sz="195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sp>
        <p:nvSpPr>
          <p:cNvPr id="12" name="final-check">
            <a:extLst xmlns:a="http://schemas.openxmlformats.org/drawingml/2006/main">
              <a:ext uri="{FF2B5EF4-FFF2-40B4-BE49-F238E27FC236}">
                <a16:creationId xmlns:a16="http://schemas.microsoft.com/office/drawing/2014/main" id="{EE93D74A-52F7-41F2-BA92-7DF0A07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97423B"/>
                </a:solidFill>
              </a:defRPr>
            </a:pPr>
            <a:r>
              <a:rPr sz="2100" b="1">
                <a:solidFill>
                  <a:srgbClr val="97423B"/>
                </a:solidFill>
                <a:latin typeface="KaiTi"/>
                <a:ea typeface="KaiTi"/>
                <a:cs typeface="KaiTi"/>
              </a:rPr>
              <a:t>本课关键词：多少钱｜人民币｜形容词谓语句｜怎么样</a:t>
            </a:r>
          </a:p>
        </p:txBody>
      </p:sp>
      <p:sp>
        <p:nvSpPr>
          <p:cNvPr id="1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C39C518-7844-4ED5-947B-62F89BB9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ge-mark">
            <a:extLst xmlns:a="http://schemas.openxmlformats.org/drawingml/2006/main">
              <a:ext uri="{FF2B5EF4-FFF2-40B4-BE49-F238E27FC236}">
                <a16:creationId xmlns:a16="http://schemas.microsoft.com/office/drawing/2014/main" id="{E54D1DDF-4E6D-464D-A3B3-1F3C35F5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53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8605A"/>
                </a:solidFill>
              </a:defRPr>
            </a:pPr>
            <a:r>
              <a:rPr sz="1200" b="0">
                <a:solidFill>
                  <a:srgbClr val="68605A"/>
                </a:solidFill>
                <a:latin typeface="Arial"/>
                <a:ea typeface="Arial"/>
                <a:cs typeface="Arial"/>
              </a:rPr>
              <a:t>HSK 1 · 第10课  |  30</a:t>
            </a:r>
          </a:p>
        </p:txBody>
      </p:sp>
    </p:spTree>
    <p:extLst>
      <p:ext uri="{BB962C8B-B14F-4D97-AF65-F5344CB8AC3E}">
        <p14:creationId xmlns:p14="http://schemas.microsoft.com/office/powerpoint/2010/main" val="1009204207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ChatGPT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">
      <a:majorFont>
        <a:latin typeface="汉语拼音"/>
        <a:ea typeface="超清极简护眼楷"/>
        <a:cs typeface=""/>
      </a:majorFont>
      <a:minorFont>
        <a:latin typeface="汉语拼音"/>
        <a:ea typeface="超清极简护眼楷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2026-08-22T14:22:27.7060000Z</dcterms:created>
  <dcterms:modified xsi:type="dcterms:W3CDTF">2026-08-22T14:22:27.7060000Z</dcterms:modified>
</coreProperties>
</file>